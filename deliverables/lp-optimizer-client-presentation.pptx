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417aa95ca2451b" /><Relationship Type="http://schemas.openxmlformats.org/officeDocument/2006/relationships/extended-properties" Target="/docProps/app.xml" Id="R08b8c24af61143b2" /><Relationship Type="http://schemas.openxmlformats.org/officeDocument/2006/relationships/officeDocument" Target="/ppt/presentation.xml" Id="R77539830012046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492aa6626141c6"/>
  </p:sldMasterIdLst>
  <p:notesMasterIdLst>
    <p:notesMasterId xmlns:r="http://schemas.openxmlformats.org/officeDocument/2006/relationships" r:id="Rcf6026429b8a40c1"/>
  </p:notesMasterIdLst>
  <p:sldIdLst>
    <p:sldId xmlns:r="http://schemas.openxmlformats.org/officeDocument/2006/relationships" id="256" r:id="R80b788eb37e14fad"/>
    <p:sldId xmlns:r="http://schemas.openxmlformats.org/officeDocument/2006/relationships" id="257" r:id="Reda581a9eb3c4590"/>
    <p:sldId xmlns:r="http://schemas.openxmlformats.org/officeDocument/2006/relationships" id="258" r:id="Reb87047aea5d4e43"/>
    <p:sldId xmlns:r="http://schemas.openxmlformats.org/officeDocument/2006/relationships" id="259" r:id="R59a12c90d5724253"/>
    <p:sldId xmlns:r="http://schemas.openxmlformats.org/officeDocument/2006/relationships" id="260" r:id="R5de134483d6a4322"/>
    <p:sldId xmlns:r="http://schemas.openxmlformats.org/officeDocument/2006/relationships" id="261" r:id="R5753adb93e4a40b9"/>
    <p:sldId xmlns:r="http://schemas.openxmlformats.org/officeDocument/2006/relationships" id="262" r:id="R6632ff95edd5436d"/>
    <p:sldId xmlns:r="http://schemas.openxmlformats.org/officeDocument/2006/relationships" id="263" r:id="R13e8e94b0ea840e4"/>
    <p:sldId xmlns:r="http://schemas.openxmlformats.org/officeDocument/2006/relationships" id="264" r:id="Rebea8c4c05e24240"/>
    <p:sldId xmlns:r="http://schemas.openxmlformats.org/officeDocument/2006/relationships" id="265" r:id="Rb3a2c09080d6436e"/>
    <p:sldId xmlns:r="http://schemas.openxmlformats.org/officeDocument/2006/relationships" id="266" r:id="Rcf55d7a26b904f95"/>
    <p:sldId xmlns:r="http://schemas.openxmlformats.org/officeDocument/2006/relationships" id="267" r:id="R257d719dd7e84bb8"/>
    <p:sldId xmlns:r="http://schemas.openxmlformats.org/officeDocument/2006/relationships" id="268" r:id="R470f4a106b8246c4"/>
    <p:sldId xmlns:r="http://schemas.openxmlformats.org/officeDocument/2006/relationships" id="269" r:id="Rd935c8504d734c4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92aa6626141c6" /><Relationship Type="http://schemas.openxmlformats.org/officeDocument/2006/relationships/theme" Target="/ppt/theme/theme1.xml" Id="R92b4d851c391496a" /><Relationship Type="http://schemas.openxmlformats.org/officeDocument/2006/relationships/notesMaster" Target="/ppt/notesMasters/notesMaster1.xml" Id="Rcf6026429b8a40c1" /><Relationship Type="http://schemas.openxmlformats.org/officeDocument/2006/relationships/presProps" Target="/ppt/presProps.xml" Id="R84b3578a80d6491a" /><Relationship Type="http://schemas.openxmlformats.org/officeDocument/2006/relationships/viewProps" Target="/ppt/viewProps.xml" Id="R4037042bd1654662" /><Relationship Type="http://schemas.openxmlformats.org/officeDocument/2006/relationships/tableStyles" Target="/ppt/tableStyles.xml" Id="R70230876a4324c4c" /><Relationship Type="http://schemas.openxmlformats.org/officeDocument/2006/relationships/slide" Target="/ppt/slides/slide1.xml" Id="R80b788eb37e14fad" /><Relationship Type="http://schemas.openxmlformats.org/officeDocument/2006/relationships/slide" Target="/ppt/slides/slide2.xml" Id="Reda581a9eb3c4590" /><Relationship Type="http://schemas.openxmlformats.org/officeDocument/2006/relationships/slide" Target="/ppt/slides/slide3.xml" Id="Reb87047aea5d4e43" /><Relationship Type="http://schemas.openxmlformats.org/officeDocument/2006/relationships/slide" Target="/ppt/slides/slide4.xml" Id="R59a12c90d5724253" /><Relationship Type="http://schemas.openxmlformats.org/officeDocument/2006/relationships/slide" Target="/ppt/slides/slide5.xml" Id="R5de134483d6a4322" /><Relationship Type="http://schemas.openxmlformats.org/officeDocument/2006/relationships/slide" Target="/ppt/slides/slide6.xml" Id="R5753adb93e4a40b9" /><Relationship Type="http://schemas.openxmlformats.org/officeDocument/2006/relationships/slide" Target="/ppt/slides/slide7.xml" Id="R6632ff95edd5436d" /><Relationship Type="http://schemas.openxmlformats.org/officeDocument/2006/relationships/slide" Target="/ppt/slides/slide8.xml" Id="R13e8e94b0ea840e4" /><Relationship Type="http://schemas.openxmlformats.org/officeDocument/2006/relationships/slide" Target="/ppt/slides/slide9.xml" Id="Rebea8c4c05e24240" /><Relationship Type="http://schemas.openxmlformats.org/officeDocument/2006/relationships/slide" Target="/ppt/slides/slide10.xml" Id="Rb3a2c09080d6436e" /><Relationship Type="http://schemas.openxmlformats.org/officeDocument/2006/relationships/slide" Target="/ppt/slides/slide11.xml" Id="Rcf55d7a26b904f95" /><Relationship Type="http://schemas.openxmlformats.org/officeDocument/2006/relationships/slide" Target="/ppt/slides/slide12.xml" Id="R257d719dd7e84bb8" /><Relationship Type="http://schemas.openxmlformats.org/officeDocument/2006/relationships/slide" Target="/ppt/slides/slide13.xml" Id="R470f4a106b8246c4" /><Relationship Type="http://schemas.openxmlformats.org/officeDocument/2006/relationships/slide" Target="/ppt/slides/slide14.xml" Id="Rd935c8504d734c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fe7c84e34304a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2e924b484948d8" /><Relationship Type="http://schemas.openxmlformats.org/officeDocument/2006/relationships/notesMaster" Target="/ppt/notesMasters/notesMaster1.xml" Id="R863593279e1c4f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b1b9c828f746da" /><Relationship Type="http://schemas.openxmlformats.org/officeDocument/2006/relationships/notesMaster" Target="/ppt/notesMasters/notesMaster1.xml" Id="Rc26295e91b3948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49db74881f4acc" /><Relationship Type="http://schemas.openxmlformats.org/officeDocument/2006/relationships/notesMaster" Target="/ppt/notesMasters/notesMaster1.xml" Id="Ra992ad34f5ce43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0e254a009141b5" /><Relationship Type="http://schemas.openxmlformats.org/officeDocument/2006/relationships/notesMaster" Target="/ppt/notesMasters/notesMaster1.xml" Id="R20405d9d3e1a45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c61ce29e2d4817" /><Relationship Type="http://schemas.openxmlformats.org/officeDocument/2006/relationships/notesMaster" Target="/ppt/notesMasters/notesMaster1.xml" Id="R576d382af3064e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1844307cd74ca5" /><Relationship Type="http://schemas.openxmlformats.org/officeDocument/2006/relationships/notesMaster" Target="/ppt/notesMasters/notesMaster1.xml" Id="Rdca0a92fed2f4b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683ab84e52423a" /><Relationship Type="http://schemas.openxmlformats.org/officeDocument/2006/relationships/notesMaster" Target="/ppt/notesMasters/notesMaster1.xml" Id="R7248656e65db48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62692c530f443c" /><Relationship Type="http://schemas.openxmlformats.org/officeDocument/2006/relationships/notesMaster" Target="/ppt/notesMasters/notesMaster1.xml" Id="Rf2116c6cd44046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6eb0ddb3a14ed9" /><Relationship Type="http://schemas.openxmlformats.org/officeDocument/2006/relationships/notesMaster" Target="/ppt/notesMasters/notesMaster1.xml" Id="R9b9a4a8211cb42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fb78cfdcb54983" /><Relationship Type="http://schemas.openxmlformats.org/officeDocument/2006/relationships/notesMaster" Target="/ppt/notesMasters/notesMaster1.xml" Id="Rdf9facaaab384b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30a6584a294933" /><Relationship Type="http://schemas.openxmlformats.org/officeDocument/2006/relationships/notesMaster" Target="/ppt/notesMasters/notesMaster1.xml" Id="R4b1a6987c4f64a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affd3836b24ae2" /><Relationship Type="http://schemas.openxmlformats.org/officeDocument/2006/relationships/notesMaster" Target="/ppt/notesMasters/notesMaster1.xml" Id="R98806e68a7464fb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00d10ff09c4ae1" /><Relationship Type="http://schemas.openxmlformats.org/officeDocument/2006/relationships/notesMaster" Target="/ppt/notesMasters/notesMaster1.xml" Id="R4fc603c61f4644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86f1dde18b439e" /><Relationship Type="http://schemas.openxmlformats.org/officeDocument/2006/relationships/notesMaster" Target="/ppt/notesMasters/notesMaster1.xml" Id="R4da983f4ddfa47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6574daabd6440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181699106164145" /><Relationship Type="http://schemas.openxmlformats.org/officeDocument/2006/relationships/slideLayout" Target="/ppt/slideLayouts/slideLayout2.xml" Id="Re3ccc37722cf48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ccc37722cf48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40465b7c9f426e" /><Relationship Type="http://schemas.openxmlformats.org/officeDocument/2006/relationships/image" Target="/ppt/media/image.png" Id="R0c7ddd5e63ef42dc" /><Relationship Type="http://schemas.openxmlformats.org/officeDocument/2006/relationships/notesSlide" Target="/ppt/notesSlides/notesSlide1.xml" Id="Raf1eafcec14b4f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9d29d7b3ec4371" /><Relationship Type="http://schemas.openxmlformats.org/officeDocument/2006/relationships/notesSlide" Target="/ppt/notesSlides/notesSlide2.xml" Id="R98ccb660483449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0f3299891943b5" /><Relationship Type="http://schemas.openxmlformats.org/officeDocument/2006/relationships/image" Target="/ppt/media/image2.png" Id="Rf96eb2288b6741c5" /><Relationship Type="http://schemas.openxmlformats.org/officeDocument/2006/relationships/notesSlide" Target="/ppt/notesSlides/notesSlide3.xml" Id="Re5489402334e4b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259cdc2535498c" /><Relationship Type="http://schemas.openxmlformats.org/officeDocument/2006/relationships/notesSlide" Target="/ppt/notesSlides/notesSlide4.xml" Id="R17b22d4e465a4f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c6118214884e08" /><Relationship Type="http://schemas.openxmlformats.org/officeDocument/2006/relationships/notesSlide" Target="/ppt/notesSlides/notesSlide5.xml" Id="Rc9806460476146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d96d784aeb440c" /><Relationship Type="http://schemas.openxmlformats.org/officeDocument/2006/relationships/notesSlide" Target="/ppt/notesSlides/notesSlide6.xml" Id="R570ec0a7260e46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828a1ff629446c" /><Relationship Type="http://schemas.openxmlformats.org/officeDocument/2006/relationships/notesSlide" Target="/ppt/notesSlides/notesSlide7.xml" Id="Rabccdad7a6d149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b8e1efd60b479e" /><Relationship Type="http://schemas.openxmlformats.org/officeDocument/2006/relationships/notesSlide" Target="/ppt/notesSlides/notesSlide8.xml" Id="R41a20378272547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9d352b42474d93" /><Relationship Type="http://schemas.openxmlformats.org/officeDocument/2006/relationships/chart" Target="/ppt/slides/charts/chart1.xml" Id="Rd8c908477b2a48f6" /><Relationship Type="http://schemas.openxmlformats.org/officeDocument/2006/relationships/notesSlide" Target="/ppt/notesSlides/notesSlide9.xml" Id="R7e6bc664acd440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365c1d79be458b" /><Relationship Type="http://schemas.openxmlformats.org/officeDocument/2006/relationships/notesSlide" Target="/ppt/notesSlides/notesSlide10.xml" Id="Ra5add06f737a4d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cd5aa784804aad" /><Relationship Type="http://schemas.openxmlformats.org/officeDocument/2006/relationships/chart" Target="/ppt/slides/charts/chart2.xml" Id="R5d8d0f94226147cb" /><Relationship Type="http://schemas.openxmlformats.org/officeDocument/2006/relationships/notesSlide" Target="/ppt/notesSlides/notesSlide11.xml" Id="Rd9b3a8a94f7741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ab65c45a9f4d7f" /><Relationship Type="http://schemas.openxmlformats.org/officeDocument/2006/relationships/notesSlide" Target="/ppt/notesSlides/notesSlide12.xml" Id="Rc753b85f8c6849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b10e29eada4aff" /><Relationship Type="http://schemas.openxmlformats.org/officeDocument/2006/relationships/notesSlide" Target="/ppt/notesSlides/notesSlide13.xml" Id="Rfba22ab5325549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321cfb209d4059" /><Relationship Type="http://schemas.openxmlformats.org/officeDocument/2006/relationships/image" Target="/ppt/media/image3.png" Id="Rac4be754748e4008" /><Relationship Type="http://schemas.openxmlformats.org/officeDocument/2006/relationships/notesSlide" Target="/ppt/notesSlides/notesSlide14.xml" Id="R6a705ef1786847f1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Extra RM buy cost by target (000s)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Buy cost</c:v>
          </c:tx>
          <c:cat>
            <c:strLit>
              <c:ptCount val="4"/>
              <c:pt idx="0">
                <c:v>25%</c:v>
              </c:pt>
              <c:pt idx="1">
                <c:v>50%</c:v>
              </c:pt>
              <c:pt idx="2">
                <c:v>75%</c:v>
              </c:pt>
              <c:pt idx="3">
                <c:v>100%</c:v>
              </c:pt>
            </c:strLit>
          </c:cat>
          <c:val>
            <c:numLit>
              <c:formatCode/>
              <c:ptCount val="4"/>
              <c:pt idx="0">
                <c:v>0</c:v>
              </c:pt>
              <c:pt idx="1">
                <c:v>819</c:v>
              </c:pt>
              <c:pt idx="2">
                <c:v>1938</c:v>
              </c:pt>
              <c:pt idx="3">
                <c:v>3291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Pairs: plan cap vs optimized current-stock output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Pairs</c:v>
          </c:tx>
          <c:cat>
            <c:strLit>
              <c:ptCount val="2"/>
              <c:pt idx="0">
                <c:v>Plan cap</c:v>
              </c:pt>
              <c:pt idx="1">
                <c:v>Optimized</c:v>
              </c:pt>
            </c:strLit>
          </c:cat>
          <c:val>
            <c:numLit>
              <c:formatCode/>
              <c:ptCount val="2"/>
              <c:pt idx="0">
                <c:v>7312</c:v>
              </c:pt>
              <c:pt idx="1">
                <c:v>2167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ove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ddd5e63ef42d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0BF7557-7E74-48F3-A3A1-332A4B1A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7562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4DEC3"/>
                </a:solidFill>
              </a:defRPr>
            </a:pPr>
            <a:r>
              <a:rPr sz="1200" b="1">
                <a:solidFill>
                  <a:srgbClr val="F4DEC3"/>
                </a:solidFill>
              </a:rPr>
              <a:t>Client presentation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2CBD561-C275-434C-9FF3-47C934F2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59817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</a:defRPr>
            </a:pPr>
            <a:r>
              <a:rPr sz="5850" b="1">
                <a:solidFill>
                  <a:srgbClr val="FFFFFF"/>
                </a:solidFill>
              </a:rPr>
              <a:t>RM-Constrained FG Planning Optimizer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B98D7C88-2E2A-4C9E-8D24-3C361F07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3A"/>
          </a:solidFill>
          <a:ln xmlns:a="http://schemas.openxmlformats.org/drawingml/2006/main" w="0">
            <a:solidFill>
              <a:srgbClr val="D58A3A"/>
            </a:solidFill>
            <a:prstDash val="solid"/>
          </a:ln>
        </p:spPr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CD46B5C-B1A4-457A-9108-59E91F0B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6610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EDE5DA"/>
                </a:solidFill>
              </a:defRPr>
            </a:pPr>
            <a:r>
              <a:rPr sz="2100">
                <a:solidFill>
                  <a:srgbClr val="EDE5DA"/>
                </a:solidFill>
              </a:rPr>
              <a:t>A practical algorithmic planning layer for footwear manufacturers facing raw-material scarcity, SKU proliferation, and time-sensitive production commitments.</a:t>
            </a:r>
          </a:p>
        </p:txBody>
      </p:sp>
      <p:sp>
        <p:nvSpPr>
          <p:cNvPr id="6" name="cover-spacer">
            <a:extLst xmlns:a="http://schemas.openxmlformats.org/drawingml/2006/main">
              <a:ext uri="{FF2B5EF4-FFF2-40B4-BE49-F238E27FC236}">
                <a16:creationId xmlns:a16="http://schemas.microsoft.com/office/drawing/2014/main" id="{3218A4DA-3666-42D2-8A5A-1FF66ECB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81050"/>
            <a:ext cx="8896350" cy="872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871545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E056C706-CF5D-4837-BDE3-1AAC1029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6A70FA-6810-447A-8573-8269F313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01D"/>
                </a:solidFill>
              </a:defRPr>
            </a:pPr>
            <a:r>
              <a:rPr sz="4050" b="1">
                <a:solidFill>
                  <a:srgbClr val="18201D"/>
                </a:solidFill>
              </a:rPr>
              <a:t>The client problem starts on the factory floor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C973EE5-89F7-4BDA-9287-7434C0E0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12515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45E"/>
                </a:solidFill>
              </a:defRPr>
            </a:pPr>
            <a:r>
              <a:rPr sz="1875">
                <a:solidFill>
                  <a:srgbClr val="51645E"/>
                </a:solidFill>
              </a:rPr>
              <a:t>A monthly footwear plan looks simple until the same leather, outsole, trim, and labor-adjacent materials are shared across dozens of styles.</a:t>
            </a:r>
          </a:p>
        </p:txBody>
      </p:sp>
      <p:sp>
        <p:nvSpPr>
          <p:cNvPr id="4" name="s2-usecase-head">
            <a:extLst xmlns:a="http://schemas.openxmlformats.org/drawingml/2006/main">
              <a:ext uri="{FF2B5EF4-FFF2-40B4-BE49-F238E27FC236}">
                <a16:creationId xmlns:a16="http://schemas.microsoft.com/office/drawing/2014/main" id="{7A3F78B6-8F9C-46BA-A2CA-52D9D422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7734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01D"/>
                </a:solidFill>
              </a:defRPr>
            </a:pPr>
            <a:r>
              <a:rPr sz="3150" b="1">
                <a:solidFill>
                  <a:srgbClr val="18201D"/>
                </a:solidFill>
              </a:rPr>
              <a:t>A practical use case</a:t>
            </a:r>
          </a:p>
        </p:txBody>
      </p:sp>
      <p:sp>
        <p:nvSpPr>
          <p:cNvPr id="5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C80738FF-1716-418B-9217-54785556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B63"/>
          </a:solidFill>
        </p:spPr>
      </p:sp>
      <p:sp>
        <p:nvSpPr>
          <p:cNvPr id="6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2E4843EB-29D7-42F4-8CBB-D0F0E163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1D"/>
                </a:solidFill>
              </a:defRPr>
            </a:pPr>
            <a:r>
              <a:rPr sz="1950">
                <a:solidFill>
                  <a:srgbClr val="18201D"/>
                </a:solidFill>
              </a:rPr>
              <a:t>Production wants the highest possible plan fill before the month closes.</a:t>
            </a:r>
          </a:p>
        </p:txBody>
      </p:sp>
      <p:sp>
        <p:nvSpPr>
          <p:cNvPr id="7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6699D721-936D-4855-A81C-21ED64F9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A3A"/>
          </a:solidFill>
        </p:spPr>
      </p:sp>
      <p:sp>
        <p:nvSpPr>
          <p:cNvPr id="8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79E80B5C-D9EE-4ECD-BEA5-80BCDD2F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7486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1D"/>
                </a:solidFill>
              </a:defRPr>
            </a:pPr>
            <a:r>
              <a:rPr sz="1950">
                <a:solidFill>
                  <a:srgbClr val="18201D"/>
                </a:solidFill>
              </a:rPr>
              <a:t>Procurement needs to know the smallest RM buy needed for each service-level target.</a:t>
            </a:r>
          </a:p>
        </p:txBody>
      </p:sp>
      <p:sp>
        <p:nvSpPr>
          <p:cNvPr id="9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5DC0BDB1-223C-4C64-B910-A6471D28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B63"/>
          </a:solidFill>
        </p:spPr>
      </p:sp>
      <p:sp>
        <p:nvSpPr>
          <p:cNvPr id="10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7B138838-C2D3-4C76-B428-E34B0918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7486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1D"/>
                </a:solidFill>
              </a:defRPr>
            </a:pPr>
            <a:r>
              <a:rPr sz="1950">
                <a:solidFill>
                  <a:srgbClr val="18201D"/>
                </a:solidFill>
              </a:rPr>
              <a:t>Operations leaders need to see which finished goods are blocked and why.</a:t>
            </a:r>
          </a:p>
        </p:txBody>
      </p:sp>
      <p:sp>
        <p:nvSpPr>
          <p:cNvPr id="11" name="s2-flow-panel">
            <a:extLst xmlns:a="http://schemas.openxmlformats.org/drawingml/2006/main">
              <a:ext uri="{FF2B5EF4-FFF2-40B4-BE49-F238E27FC236}">
                <a16:creationId xmlns:a16="http://schemas.microsoft.com/office/drawing/2014/main" id="{0F53240F-A7A7-4F78-8790-4D616C31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8374" y="2255520"/>
            <a:ext cx="8380476" cy="6938010"/>
          </a:xfrm>
          <a:prstGeom xmlns:a="http://schemas.openxmlformats.org/drawingml/2006/main" prst="roundRect">
            <a:avLst>
              <a:gd name="adj" fmla="val 10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12" name="s2-m1-value">
            <a:extLst xmlns:a="http://schemas.openxmlformats.org/drawingml/2006/main">
              <a:ext uri="{FF2B5EF4-FFF2-40B4-BE49-F238E27FC236}">
                <a16:creationId xmlns:a16="http://schemas.microsoft.com/office/drawing/2014/main" id="{6D79533E-B2DA-42AF-881F-162ED479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7696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F5B63"/>
                </a:solidFill>
              </a:defRPr>
            </a:pPr>
            <a:r>
              <a:rPr sz="4350" b="1">
                <a:solidFill>
                  <a:srgbClr val="1F5B63"/>
                </a:solidFill>
              </a:rPr>
              <a:t>50 FG</a:t>
            </a:r>
          </a:p>
        </p:txBody>
      </p:sp>
      <p:sp>
        <p:nvSpPr>
          <p:cNvPr id="13" name="s2-m1-caption">
            <a:extLst xmlns:a="http://schemas.openxmlformats.org/drawingml/2006/main">
              <a:ext uri="{FF2B5EF4-FFF2-40B4-BE49-F238E27FC236}">
                <a16:creationId xmlns:a16="http://schemas.microsoft.com/office/drawing/2014/main" id="{6578414C-AB9B-47CC-8E97-1DBF86B3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766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styles in the sanitized demo</a:t>
            </a:r>
          </a:p>
        </p:txBody>
      </p:sp>
      <p:sp>
        <p:nvSpPr>
          <p:cNvPr id="14" name="s2-r1">
            <a:extLst xmlns:a="http://schemas.openxmlformats.org/drawingml/2006/main">
              <a:ext uri="{FF2B5EF4-FFF2-40B4-BE49-F238E27FC236}">
                <a16:creationId xmlns:a16="http://schemas.microsoft.com/office/drawing/2014/main" id="{247D492B-2F03-4751-91CE-D9766108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769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15" name="s2-m2-value">
            <a:extLst xmlns:a="http://schemas.openxmlformats.org/drawingml/2006/main">
              <a:ext uri="{FF2B5EF4-FFF2-40B4-BE49-F238E27FC236}">
                <a16:creationId xmlns:a16="http://schemas.microsoft.com/office/drawing/2014/main" id="{DAFE6517-334C-4EE9-9CD2-98578093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24300"/>
            <a:ext cx="76962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A96533"/>
                </a:solidFill>
              </a:defRPr>
            </a:pPr>
            <a:r>
              <a:rPr sz="4350" b="1">
                <a:solidFill>
                  <a:srgbClr val="A96533"/>
                </a:solidFill>
              </a:rPr>
              <a:t>200 RM</a:t>
            </a:r>
          </a:p>
        </p:txBody>
      </p:sp>
      <p:sp>
        <p:nvSpPr>
          <p:cNvPr id="16" name="s2-m2-caption">
            <a:extLst xmlns:a="http://schemas.openxmlformats.org/drawingml/2006/main">
              <a:ext uri="{FF2B5EF4-FFF2-40B4-BE49-F238E27FC236}">
                <a16:creationId xmlns:a16="http://schemas.microsoft.com/office/drawing/2014/main" id="{B768F4C8-0AF8-4405-8F6F-E1EBDF08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2915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raw materials competing across BOMs</a:t>
            </a:r>
          </a:p>
        </p:txBody>
      </p:sp>
      <p:sp>
        <p:nvSpPr>
          <p:cNvPr id="17" name="s2-r2">
            <a:extLst xmlns:a="http://schemas.openxmlformats.org/drawingml/2006/main">
              <a:ext uri="{FF2B5EF4-FFF2-40B4-BE49-F238E27FC236}">
                <a16:creationId xmlns:a16="http://schemas.microsoft.com/office/drawing/2014/main" id="{353D4C88-C9EF-4ABE-A267-55CB2474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48250"/>
            <a:ext cx="769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18" name="s2-m3-value">
            <a:extLst xmlns:a="http://schemas.openxmlformats.org/drawingml/2006/main">
              <a:ext uri="{FF2B5EF4-FFF2-40B4-BE49-F238E27FC236}">
                <a16:creationId xmlns:a16="http://schemas.microsoft.com/office/drawing/2014/main" id="{730B280A-4C14-415B-95C5-1A3B2FC0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76850"/>
            <a:ext cx="7696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01D"/>
                </a:solidFill>
              </a:defRPr>
            </a:pPr>
            <a:r>
              <a:rPr sz="3900" b="1">
                <a:solidFill>
                  <a:srgbClr val="18201D"/>
                </a:solidFill>
              </a:rPr>
              <a:t>400 BOM rows</a:t>
            </a:r>
          </a:p>
        </p:txBody>
      </p:sp>
      <p:sp>
        <p:nvSpPr>
          <p:cNvPr id="19" name="s2-m3-caption">
            <a:extLst xmlns:a="http://schemas.openxmlformats.org/drawingml/2006/main">
              <a:ext uri="{FF2B5EF4-FFF2-40B4-BE49-F238E27FC236}">
                <a16:creationId xmlns:a16="http://schemas.microsoft.com/office/drawing/2014/main" id="{2E31B701-67DE-4F3E-AD82-9B9990FD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905500"/>
            <a:ext cx="7696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the mapping that makes manual tradeoffs fragile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E1450884-AF9D-4C30-AD14-DBA1E336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7867F"/>
                </a:solidFill>
              </a:defRPr>
            </a:pPr>
            <a:r>
              <a:rPr sz="1050">
                <a:solidFill>
                  <a:srgbClr val="77867F"/>
                </a:solidFill>
              </a:rPr>
              <a:t>Sanitized repository demo data; amounts are sample currency units.</a:t>
            </a:r>
          </a:p>
        </p:txBody>
      </p:sp>
    </p:spTree>
    <p:extLst>
      <p:ext uri="{BB962C8B-B14F-4D97-AF65-F5344CB8AC3E}">
        <p14:creationId xmlns:p14="http://schemas.microsoft.com/office/powerpoint/2010/main" val="8946978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89DC6845-B363-4A37-935C-20ACC39C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D10571-5C8A-4BA5-9C90-83300767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16725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01D"/>
                </a:solidFill>
              </a:defRPr>
            </a:pPr>
            <a:r>
              <a:rPr sz="4050" b="1">
                <a:solidFill>
                  <a:srgbClr val="18201D"/>
                </a:solidFill>
              </a:rPr>
              <a:t>Complexity grows multiplicatively, not linearly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57DB1C7-2856-47F5-8063-F54AB4B2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14450"/>
            <a:ext cx="12344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45E"/>
                </a:solidFill>
              </a:defRPr>
            </a:pPr>
            <a:r>
              <a:rPr sz="1875">
                <a:solidFill>
                  <a:srgbClr val="51645E"/>
                </a:solidFill>
              </a:rPr>
              <a:t>Every new SKU adds BOM consumption rows; every shared RM creates tradeoffs; every target creates another scenario to solve.</a:t>
            </a:r>
          </a:p>
        </p:txBody>
      </p:sp>
      <p:sp>
        <p:nvSpPr>
          <p:cNvPr id="4" name="s3-metric-value">
            <a:extLst xmlns:a="http://schemas.openxmlformats.org/drawingml/2006/main">
              <a:ext uri="{FF2B5EF4-FFF2-40B4-BE49-F238E27FC236}">
                <a16:creationId xmlns:a16="http://schemas.microsoft.com/office/drawing/2014/main" id="{530ADE3E-DB3F-48D3-9F3A-CCC4BC87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7143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23B42"/>
                </a:solidFill>
              </a:defRPr>
            </a:pPr>
            <a:r>
              <a:rPr sz="4650" b="1">
                <a:solidFill>
                  <a:srgbClr val="123B42"/>
                </a:solidFill>
              </a:rPr>
              <a:t>SKU x RM x BOM</a:t>
            </a:r>
          </a:p>
        </p:txBody>
      </p:sp>
      <p:sp>
        <p:nvSpPr>
          <p:cNvPr id="5" name="s3-metric-caption">
            <a:extLst xmlns:a="http://schemas.openxmlformats.org/drawingml/2006/main">
              <a:ext uri="{FF2B5EF4-FFF2-40B4-BE49-F238E27FC236}">
                <a16:creationId xmlns:a16="http://schemas.microsoft.com/office/drawing/2014/main" id="{72EC0908-8DE6-44C7-A7C0-EAC28F79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714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is the real planning surface</a:t>
            </a:r>
          </a:p>
        </p:txBody>
      </p:sp>
      <p:sp>
        <p:nvSpPr>
          <p:cNvPr id="6" name="s3-scale-panel">
            <a:extLst xmlns:a="http://schemas.openxmlformats.org/drawingml/2006/main">
              <a:ext uri="{FF2B5EF4-FFF2-40B4-BE49-F238E27FC236}">
                <a16:creationId xmlns:a16="http://schemas.microsoft.com/office/drawing/2014/main" id="{5E22CBEC-84D3-47BD-B8AC-16D05480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6335"/>
            <a:ext cx="7149846" cy="2461260"/>
          </a:xfrm>
          <a:prstGeom xmlns:a="http://schemas.openxmlformats.org/drawingml/2006/main" prst="roundRect">
            <a:avLst>
              <a:gd name="adj" fmla="val 3096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7" name="s3-scale-table-header-0">
            <a:extLst xmlns:a="http://schemas.openxmlformats.org/drawingml/2006/main">
              <a:ext uri="{FF2B5EF4-FFF2-40B4-BE49-F238E27FC236}">
                <a16:creationId xmlns:a16="http://schemas.microsoft.com/office/drawing/2014/main" id="{F5111FC5-96F1-4D92-90AC-34F53104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2533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42"/>
                </a:solidFill>
              </a:defRPr>
            </a:pPr>
            <a:r>
              <a:rPr sz="1200" b="1">
                <a:solidFill>
                  <a:srgbClr val="123B42"/>
                </a:solidFill>
              </a:rPr>
              <a:t>Planning layer</a:t>
            </a:r>
          </a:p>
        </p:txBody>
      </p:sp>
      <p:sp>
        <p:nvSpPr>
          <p:cNvPr id="8" name="s3-scale-table-header-1">
            <a:extLst xmlns:a="http://schemas.openxmlformats.org/drawingml/2006/main">
              <a:ext uri="{FF2B5EF4-FFF2-40B4-BE49-F238E27FC236}">
                <a16:creationId xmlns:a16="http://schemas.microsoft.com/office/drawing/2014/main" id="{49B9A17A-715F-4200-87B3-D6477E3C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00650"/>
            <a:ext cx="3962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42"/>
                </a:solidFill>
              </a:defRPr>
            </a:pPr>
            <a:r>
              <a:rPr sz="1200" b="1">
                <a:solidFill>
                  <a:srgbClr val="123B42"/>
                </a:solidFill>
              </a:rPr>
              <a:t>Why it scales</a:t>
            </a:r>
          </a:p>
        </p:txBody>
      </p:sp>
      <p:sp>
        <p:nvSpPr>
          <p:cNvPr id="9" name="s3-scale-table-row-rule-0">
            <a:extLst xmlns:a="http://schemas.openxmlformats.org/drawingml/2006/main">
              <a:ext uri="{FF2B5EF4-FFF2-40B4-BE49-F238E27FC236}">
                <a16:creationId xmlns:a16="http://schemas.microsoft.com/office/drawing/2014/main" id="{CC40CB35-AE51-4342-96E0-ADEF830B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0545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10" name="s3-scale-table-cell-0-0">
            <a:extLst xmlns:a="http://schemas.openxmlformats.org/drawingml/2006/main">
              <a:ext uri="{FF2B5EF4-FFF2-40B4-BE49-F238E27FC236}">
                <a16:creationId xmlns:a16="http://schemas.microsoft.com/office/drawing/2014/main" id="{A9770B30-1FA9-4793-AC0C-D4EBDB1A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01D"/>
                </a:solidFill>
              </a:defRPr>
            </a:pPr>
            <a:r>
              <a:rPr sz="1425" b="1">
                <a:solidFill>
                  <a:srgbClr val="18201D"/>
                </a:solidFill>
              </a:rPr>
              <a:t>Styles</a:t>
            </a:r>
          </a:p>
        </p:txBody>
      </p:sp>
      <p:sp>
        <p:nvSpPr>
          <p:cNvPr id="11" name="s3-scale-table-cell-0-1">
            <a:extLst xmlns:a="http://schemas.openxmlformats.org/drawingml/2006/main">
              <a:ext uri="{FF2B5EF4-FFF2-40B4-BE49-F238E27FC236}">
                <a16:creationId xmlns:a16="http://schemas.microsoft.com/office/drawing/2014/main" id="{D48CD6BD-F3EF-49D2-8D7D-FD37252D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1975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45E"/>
                </a:solidFill>
              </a:defRPr>
            </a:pPr>
            <a:r>
              <a:rPr sz="1425" b="0">
                <a:solidFill>
                  <a:srgbClr val="51645E"/>
                </a:solidFill>
              </a:rPr>
              <a:t>more product promises to protect</a:t>
            </a:r>
          </a:p>
        </p:txBody>
      </p:sp>
      <p:sp>
        <p:nvSpPr>
          <p:cNvPr id="12" name="s3-scale-table-row-rule-1">
            <a:extLst xmlns:a="http://schemas.openxmlformats.org/drawingml/2006/main">
              <a:ext uri="{FF2B5EF4-FFF2-40B4-BE49-F238E27FC236}">
                <a16:creationId xmlns:a16="http://schemas.microsoft.com/office/drawing/2014/main" id="{A18C22D0-FA73-4A73-BD16-0A3A9FEA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6265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13" name="s3-scale-table-cell-1-0">
            <a:extLst xmlns:a="http://schemas.openxmlformats.org/drawingml/2006/main">
              <a:ext uri="{FF2B5EF4-FFF2-40B4-BE49-F238E27FC236}">
                <a16:creationId xmlns:a16="http://schemas.microsoft.com/office/drawing/2014/main" id="{C8EFCC85-4512-4A2B-894C-2A2DB344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769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01D"/>
                </a:solidFill>
              </a:defRPr>
            </a:pPr>
            <a:r>
              <a:rPr sz="1425" b="1">
                <a:solidFill>
                  <a:srgbClr val="18201D"/>
                </a:solidFill>
              </a:rPr>
              <a:t>Materials</a:t>
            </a:r>
          </a:p>
        </p:txBody>
      </p:sp>
      <p:sp>
        <p:nvSpPr>
          <p:cNvPr id="14" name="s3-scale-table-cell-1-1">
            <a:extLst xmlns:a="http://schemas.openxmlformats.org/drawingml/2006/main">
              <a:ext uri="{FF2B5EF4-FFF2-40B4-BE49-F238E27FC236}">
                <a16:creationId xmlns:a16="http://schemas.microsoft.com/office/drawing/2014/main" id="{56F8E3A0-FAA5-4F7C-8304-CDDF5897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07695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45E"/>
                </a:solidFill>
              </a:defRPr>
            </a:pPr>
            <a:r>
              <a:rPr sz="1425" b="0">
                <a:solidFill>
                  <a:srgbClr val="51645E"/>
                </a:solidFill>
              </a:rPr>
              <a:t>more shared constraints and substitutes</a:t>
            </a:r>
          </a:p>
        </p:txBody>
      </p:sp>
      <p:sp>
        <p:nvSpPr>
          <p:cNvPr id="15" name="s3-scale-table-row-rule-2">
            <a:extLst xmlns:a="http://schemas.openxmlformats.org/drawingml/2006/main">
              <a:ext uri="{FF2B5EF4-FFF2-40B4-BE49-F238E27FC236}">
                <a16:creationId xmlns:a16="http://schemas.microsoft.com/office/drawing/2014/main" id="{DBEE4200-BBD9-4EEC-87E9-0FA7E0F6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1985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16" name="s3-scale-table-cell-2-0">
            <a:extLst xmlns:a="http://schemas.openxmlformats.org/drawingml/2006/main">
              <a:ext uri="{FF2B5EF4-FFF2-40B4-BE49-F238E27FC236}">
                <a16:creationId xmlns:a16="http://schemas.microsoft.com/office/drawing/2014/main" id="{93223F8F-C0CA-480B-B84C-50BE7D28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341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01D"/>
                </a:solidFill>
              </a:defRPr>
            </a:pPr>
            <a:r>
              <a:rPr sz="1425" b="1">
                <a:solidFill>
                  <a:srgbClr val="18201D"/>
                </a:solidFill>
              </a:rPr>
              <a:t>Availability mode</a:t>
            </a:r>
          </a:p>
        </p:txBody>
      </p:sp>
      <p:sp>
        <p:nvSpPr>
          <p:cNvPr id="17" name="s3-scale-table-cell-2-1">
            <a:extLst xmlns:a="http://schemas.openxmlformats.org/drawingml/2006/main">
              <a:ext uri="{FF2B5EF4-FFF2-40B4-BE49-F238E27FC236}">
                <a16:creationId xmlns:a16="http://schemas.microsoft.com/office/drawing/2014/main" id="{275A8CA8-B3CF-4531-8CCD-7DDE3C97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3415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45E"/>
                </a:solidFill>
              </a:defRPr>
            </a:pPr>
            <a:r>
              <a:rPr sz="1425" b="0">
                <a:solidFill>
                  <a:srgbClr val="51645E"/>
                </a:solidFill>
              </a:rPr>
              <a:t>stock vs stock plus PO changes feasibility</a:t>
            </a:r>
          </a:p>
        </p:txBody>
      </p:sp>
      <p:sp>
        <p:nvSpPr>
          <p:cNvPr id="18" name="s3-scale-table-row-rule-3">
            <a:extLst xmlns:a="http://schemas.openxmlformats.org/drawingml/2006/main">
              <a:ext uri="{FF2B5EF4-FFF2-40B4-BE49-F238E27FC236}">
                <a16:creationId xmlns:a16="http://schemas.microsoft.com/office/drawing/2014/main" id="{AFA923EA-D57A-4E35-A0CC-1DF238F9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7705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19" name="s3-scale-table-cell-3-0">
            <a:extLst xmlns:a="http://schemas.openxmlformats.org/drawingml/2006/main">
              <a:ext uri="{FF2B5EF4-FFF2-40B4-BE49-F238E27FC236}">
                <a16:creationId xmlns:a16="http://schemas.microsoft.com/office/drawing/2014/main" id="{65BDC44D-500F-4CFF-88B0-10080193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91350"/>
            <a:ext cx="2533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01D"/>
                </a:solidFill>
              </a:defRPr>
            </a:pPr>
            <a:r>
              <a:rPr sz="1425" b="1">
                <a:solidFill>
                  <a:srgbClr val="18201D"/>
                </a:solidFill>
              </a:rPr>
              <a:t>Targets</a:t>
            </a:r>
          </a:p>
        </p:txBody>
      </p:sp>
      <p:sp>
        <p:nvSpPr>
          <p:cNvPr id="20" name="s3-scale-table-cell-3-1">
            <a:extLst xmlns:a="http://schemas.openxmlformats.org/drawingml/2006/main">
              <a:ext uri="{FF2B5EF4-FFF2-40B4-BE49-F238E27FC236}">
                <a16:creationId xmlns:a16="http://schemas.microsoft.com/office/drawing/2014/main" id="{B6729041-A5B8-4199-ABF9-06F404C2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991350"/>
            <a:ext cx="3962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45E"/>
                </a:solidFill>
              </a:defRPr>
            </a:pPr>
            <a:r>
              <a:rPr sz="1425" b="0">
                <a:solidFill>
                  <a:srgbClr val="51645E"/>
                </a:solidFill>
              </a:rPr>
              <a:t>25, 50, 75, 100 percent create distinct buy plans</a:t>
            </a:r>
          </a:p>
        </p:txBody>
      </p:sp>
      <p:pic>
        <p:nvPicPr>
          <p:cNvPr id="21" name="complexity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eb2288b6741c5"/>
          <a:srcRect xmlns:a="http://schemas.openxmlformats.org/drawingml/2006/main" l="15639" t="0" r="156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7146" y="1855470"/>
            <a:ext cx="9099804" cy="7452360"/>
          </a:xfrm>
          <a:prstGeom xmlns:a="http://schemas.openxmlformats.org/drawingml/2006/main" prst="rect">
            <a:avLst/>
          </a:prstGeom>
        </p:spPr>
      </p:pic>
      <p:sp>
        <p:nvSpPr>
          <p:cNvPr id="22" name="footer">
            <a:extLst xmlns:a="http://schemas.openxmlformats.org/drawingml/2006/main">
              <a:ext uri="{FF2B5EF4-FFF2-40B4-BE49-F238E27FC236}">
                <a16:creationId xmlns:a16="http://schemas.microsoft.com/office/drawing/2014/main" id="{B26C5FA0-DCDC-4422-ACFF-AAD497C5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63100"/>
            <a:ext cx="1672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7867F"/>
                </a:solidFill>
              </a:defRPr>
            </a:pPr>
            <a:r>
              <a:rPr sz="1050">
                <a:solidFill>
                  <a:srgbClr val="77867F"/>
                </a:solidFill>
              </a:rPr>
              <a:t>Generated image is illustrative; scale metrics are from the sanitized repository demo.</a:t>
            </a:r>
          </a:p>
        </p:txBody>
      </p:sp>
    </p:spTree>
    <p:extLst>
      <p:ext uri="{BB962C8B-B14F-4D97-AF65-F5344CB8AC3E}">
        <p14:creationId xmlns:p14="http://schemas.microsoft.com/office/powerpoint/2010/main" val="3688036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DD327489-872F-4A9F-B72D-A748E120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36E4D0-ADB8-45DE-A227-4ECD16ED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01D"/>
                </a:solidFill>
              </a:defRPr>
            </a:pPr>
            <a:r>
              <a:rPr sz="4050" b="1">
                <a:solidFill>
                  <a:srgbClr val="18201D"/>
                </a:solidFill>
              </a:rPr>
              <a:t>Spreadsheet planning leaks value in four places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9C216DB-D34F-4B9D-B864-B404DAAD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71600"/>
            <a:ext cx="12268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45E"/>
                </a:solidFill>
              </a:defRPr>
            </a:pPr>
            <a:r>
              <a:rPr sz="1875">
                <a:solidFill>
                  <a:srgbClr val="51645E"/>
                </a:solidFill>
              </a:rPr>
              <a:t>The issue is not spreadsheet skill. It is that the combinatorial tradeoff gets too large to reason through manually under deadline pressure.</a:t>
            </a:r>
          </a:p>
        </p:txBody>
      </p:sp>
      <p:sp>
        <p:nvSpPr>
          <p:cNvPr id="4" name="s4-claim">
            <a:extLst xmlns:a="http://schemas.openxmlformats.org/drawingml/2006/main">
              <a:ext uri="{FF2B5EF4-FFF2-40B4-BE49-F238E27FC236}">
                <a16:creationId xmlns:a16="http://schemas.microsoft.com/office/drawing/2014/main" id="{2F55D1DA-457C-4A46-9FF8-328D92C4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71628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01D"/>
                </a:solidFill>
              </a:defRPr>
            </a:pPr>
            <a:r>
              <a:rPr sz="3900" b="1">
                <a:solidFill>
                  <a:srgbClr val="18201D"/>
                </a:solidFill>
              </a:rPr>
              <a:t>When planners work by hand, the first feasible answer can crowd out the best answer.</a:t>
            </a:r>
          </a:p>
        </p:txBody>
      </p:sp>
      <p:sp>
        <p:nvSpPr>
          <p:cNvPr id="5" name="s4-rule">
            <a:extLst xmlns:a="http://schemas.openxmlformats.org/drawingml/2006/main">
              <a:ext uri="{FF2B5EF4-FFF2-40B4-BE49-F238E27FC236}">
                <a16:creationId xmlns:a16="http://schemas.microsoft.com/office/drawing/2014/main" id="{7D10C848-B426-47EB-8879-87CF329F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7627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3A"/>
          </a:solidFill>
          <a:ln xmlns:a="http://schemas.openxmlformats.org/drawingml/2006/main" w="0">
            <a:solidFill>
              <a:srgbClr val="D58A3A"/>
            </a:solidFill>
            <a:prstDash val="solid"/>
          </a:ln>
        </p:spPr>
      </p:sp>
      <p:sp>
        <p:nvSpPr>
          <p:cNvPr id="6" name="s4-p1">
            <a:extLst xmlns:a="http://schemas.openxmlformats.org/drawingml/2006/main">
              <a:ext uri="{FF2B5EF4-FFF2-40B4-BE49-F238E27FC236}">
                <a16:creationId xmlns:a16="http://schemas.microsoft.com/office/drawing/2014/main" id="{8E846DCA-6734-4754-A533-0C98E4D6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64" y="2293620"/>
            <a:ext cx="4101193" cy="3326130"/>
          </a:xfrm>
          <a:prstGeom xmlns:a="http://schemas.openxmlformats.org/drawingml/2006/main" prst="roundRect">
            <a:avLst>
              <a:gd name="adj" fmla="val 22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7" name="s4-time-value">
            <a:extLst xmlns:a="http://schemas.openxmlformats.org/drawingml/2006/main">
              <a:ext uri="{FF2B5EF4-FFF2-40B4-BE49-F238E27FC236}">
                <a16:creationId xmlns:a16="http://schemas.microsoft.com/office/drawing/2014/main" id="{64EA41F3-EF18-4972-9832-344D6DBC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95550"/>
            <a:ext cx="3600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F5B63"/>
                </a:solidFill>
              </a:defRPr>
            </a:pPr>
            <a:r>
              <a:rPr sz="3300" b="1">
                <a:solidFill>
                  <a:srgbClr val="1F5B63"/>
                </a:solidFill>
              </a:rPr>
              <a:t>Time</a:t>
            </a:r>
          </a:p>
        </p:txBody>
      </p:sp>
      <p:sp>
        <p:nvSpPr>
          <p:cNvPr id="8" name="s4-time-caption">
            <a:extLst xmlns:a="http://schemas.openxmlformats.org/drawingml/2006/main">
              <a:ext uri="{FF2B5EF4-FFF2-40B4-BE49-F238E27FC236}">
                <a16:creationId xmlns:a16="http://schemas.microsoft.com/office/drawing/2014/main" id="{ED6A70EE-D15D-4E31-B71B-03C0ABAD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48000"/>
            <a:ext cx="3600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hours spent reconciling BOM, caps, and stock tables</a:t>
            </a:r>
          </a:p>
        </p:txBody>
      </p:sp>
      <p:sp>
        <p:nvSpPr>
          <p:cNvPr id="9" name="s4-p2">
            <a:extLst xmlns:a="http://schemas.openxmlformats.org/drawingml/2006/main">
              <a:ext uri="{FF2B5EF4-FFF2-40B4-BE49-F238E27FC236}">
                <a16:creationId xmlns:a16="http://schemas.microsoft.com/office/drawing/2014/main" id="{7D18FFDB-B586-41D2-9BA3-F8208D10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8607" y="2293620"/>
            <a:ext cx="4101193" cy="3326130"/>
          </a:xfrm>
          <a:prstGeom xmlns:a="http://schemas.openxmlformats.org/drawingml/2006/main" prst="roundRect">
            <a:avLst>
              <a:gd name="adj" fmla="val 22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10" name="s4-money-value">
            <a:extLst xmlns:a="http://schemas.openxmlformats.org/drawingml/2006/main">
              <a:ext uri="{FF2B5EF4-FFF2-40B4-BE49-F238E27FC236}">
                <a16:creationId xmlns:a16="http://schemas.microsoft.com/office/drawing/2014/main" id="{3BC5F777-889D-42FA-A767-C30A296B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2495550"/>
            <a:ext cx="3600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96533"/>
                </a:solidFill>
              </a:defRPr>
            </a:pPr>
            <a:r>
              <a:rPr sz="3300" b="1">
                <a:solidFill>
                  <a:srgbClr val="A96533"/>
                </a:solidFill>
              </a:rPr>
              <a:t>Money</a:t>
            </a:r>
          </a:p>
        </p:txBody>
      </p:sp>
      <p:sp>
        <p:nvSpPr>
          <p:cNvPr id="11" name="s4-money-caption">
            <a:extLst xmlns:a="http://schemas.openxmlformats.org/drawingml/2006/main">
              <a:ext uri="{FF2B5EF4-FFF2-40B4-BE49-F238E27FC236}">
                <a16:creationId xmlns:a16="http://schemas.microsoft.com/office/drawing/2014/main" id="{62ECF639-0101-4C6D-8C36-FDE95F34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048000"/>
            <a:ext cx="3600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unfocused buys can chase full shortages instead of target fills</a:t>
            </a:r>
          </a:p>
        </p:txBody>
      </p:sp>
      <p:sp>
        <p:nvSpPr>
          <p:cNvPr id="12" name="s4-p3">
            <a:extLst xmlns:a="http://schemas.openxmlformats.org/drawingml/2006/main">
              <a:ext uri="{FF2B5EF4-FFF2-40B4-BE49-F238E27FC236}">
                <a16:creationId xmlns:a16="http://schemas.microsoft.com/office/drawing/2014/main" id="{60E384E7-E49C-4B29-A3F7-570566F2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64" y="5829300"/>
            <a:ext cx="4101193" cy="3326130"/>
          </a:xfrm>
          <a:prstGeom xmlns:a="http://schemas.openxmlformats.org/drawingml/2006/main" prst="roundRect">
            <a:avLst>
              <a:gd name="adj" fmla="val 22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13" name="s4-margin-value">
            <a:extLst xmlns:a="http://schemas.openxmlformats.org/drawingml/2006/main">
              <a:ext uri="{FF2B5EF4-FFF2-40B4-BE49-F238E27FC236}">
                <a16:creationId xmlns:a16="http://schemas.microsoft.com/office/drawing/2014/main" id="{D92E42C6-5931-4007-878B-9BAB17FC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038850"/>
            <a:ext cx="3600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86F4A"/>
                </a:solidFill>
              </a:defRPr>
            </a:pPr>
            <a:r>
              <a:rPr sz="3300" b="1">
                <a:solidFill>
                  <a:srgbClr val="C86F4A"/>
                </a:solidFill>
              </a:rPr>
              <a:t>Margin</a:t>
            </a:r>
          </a:p>
        </p:txBody>
      </p:sp>
      <p:sp>
        <p:nvSpPr>
          <p:cNvPr id="14" name="s4-margin-caption">
            <a:extLst xmlns:a="http://schemas.openxmlformats.org/drawingml/2006/main">
              <a:ext uri="{FF2B5EF4-FFF2-40B4-BE49-F238E27FC236}">
                <a16:creationId xmlns:a16="http://schemas.microsoft.com/office/drawing/2014/main" id="{C2356084-BC10-4B63-BEB3-E95F8E4C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572250"/>
            <a:ext cx="3600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scarce RM may be consumed by lower-value styles first</a:t>
            </a:r>
          </a:p>
        </p:txBody>
      </p:sp>
      <p:sp>
        <p:nvSpPr>
          <p:cNvPr id="15" name="s4-p4">
            <a:extLst xmlns:a="http://schemas.openxmlformats.org/drawingml/2006/main">
              <a:ext uri="{FF2B5EF4-FFF2-40B4-BE49-F238E27FC236}">
                <a16:creationId xmlns:a16="http://schemas.microsoft.com/office/drawing/2014/main" id="{F0CD1B32-EB1E-4D80-AD29-53F9DBF8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8607" y="5829300"/>
            <a:ext cx="4101193" cy="3326130"/>
          </a:xfrm>
          <a:prstGeom xmlns:a="http://schemas.openxmlformats.org/drawingml/2006/main" prst="roundRect">
            <a:avLst>
              <a:gd name="adj" fmla="val 229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16" name="s4-opp-value">
            <a:extLst xmlns:a="http://schemas.openxmlformats.org/drawingml/2006/main">
              <a:ext uri="{FF2B5EF4-FFF2-40B4-BE49-F238E27FC236}">
                <a16:creationId xmlns:a16="http://schemas.microsoft.com/office/drawing/2014/main" id="{607985BC-5D00-4B04-B5D7-5ED20D36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6038850"/>
            <a:ext cx="3600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01D"/>
                </a:solidFill>
              </a:defRPr>
            </a:pPr>
            <a:r>
              <a:rPr sz="3300" b="1">
                <a:solidFill>
                  <a:srgbClr val="18201D"/>
                </a:solidFill>
              </a:rPr>
              <a:t>Opportunity</a:t>
            </a:r>
          </a:p>
        </p:txBody>
      </p:sp>
      <p:sp>
        <p:nvSpPr>
          <p:cNvPr id="17" name="s4-opp-caption">
            <a:extLst xmlns:a="http://schemas.openxmlformats.org/drawingml/2006/main">
              <a:ext uri="{FF2B5EF4-FFF2-40B4-BE49-F238E27FC236}">
                <a16:creationId xmlns:a16="http://schemas.microsoft.com/office/drawing/2014/main" id="{5BDDEF5F-1BAB-4A5B-BDC1-2C8187E0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6572250"/>
            <a:ext cx="3600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missed production windows become missed customer commitments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05786FA0-6DD0-459B-92E7-FD3B2BFC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0595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7867F"/>
                </a:solidFill>
              </a:defRPr>
            </a:pPr>
            <a:r>
              <a:rPr sz="1050">
                <a:solidFill>
                  <a:srgbClr val="77867F"/>
                </a:solidFill>
              </a:rPr>
              <a:t>Sanitized repository demo data; amounts are sample currency units.</a:t>
            </a:r>
          </a:p>
        </p:txBody>
      </p:sp>
    </p:spTree>
    <p:extLst>
      <p:ext uri="{BB962C8B-B14F-4D97-AF65-F5344CB8AC3E}">
        <p14:creationId xmlns:p14="http://schemas.microsoft.com/office/powerpoint/2010/main" val="13080219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632A313A-3CD4-41FB-8BF8-310F80F1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2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ED4514-C527-4E19-8CCE-2CD00393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6750"/>
            <a:ext cx="16573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The optimization question is concrete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C529D6-B364-43F5-A3E8-7753D64A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097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C9D6D2"/>
                </a:solidFill>
              </a:defRPr>
            </a:pPr>
            <a:r>
              <a:rPr sz="1875">
                <a:solidFill>
                  <a:srgbClr val="C9D6D2"/>
                </a:solidFill>
              </a:rPr>
              <a:t>Given scarce raw material, what should we build now, and what would it cost to buy our way to a higher fill target?</a:t>
            </a:r>
          </a:p>
        </p:txBody>
      </p:sp>
      <p:sp>
        <p:nvSpPr>
          <p:cNvPr id="4" name="s5-main">
            <a:extLst xmlns:a="http://schemas.openxmlformats.org/drawingml/2006/main">
              <a:ext uri="{FF2B5EF4-FFF2-40B4-BE49-F238E27FC236}">
                <a16:creationId xmlns:a16="http://schemas.microsoft.com/office/drawing/2014/main" id="{47F6CABE-E1E7-4CAD-B07D-78353862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6343650" cy="1924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Choose integer production quantities for every FG style.</a:t>
            </a:r>
          </a:p>
        </p:txBody>
      </p:sp>
      <p:sp>
        <p:nvSpPr>
          <p:cNvPr id="5" name="s5-support">
            <a:extLst xmlns:a="http://schemas.openxmlformats.org/drawingml/2006/main">
              <a:ext uri="{FF2B5EF4-FFF2-40B4-BE49-F238E27FC236}">
                <a16:creationId xmlns:a16="http://schemas.microsoft.com/office/drawing/2014/main" id="{65976783-04F4-4FB2-931E-D647FF8C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15100"/>
            <a:ext cx="64198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DE8E4"/>
                </a:solidFill>
              </a:defRPr>
            </a:pPr>
            <a:r>
              <a:rPr sz="2100">
                <a:solidFill>
                  <a:srgbClr val="DDE8E4"/>
                </a:solidFill>
              </a:rPr>
              <a:t>The answer must respect every raw-material constraint and every plan cap.</a:t>
            </a:r>
          </a:p>
        </p:txBody>
      </p:sp>
      <p:sp>
        <p:nvSpPr>
          <p:cNvPr id="6" name="s5-c1">
            <a:extLst xmlns:a="http://schemas.openxmlformats.org/drawingml/2006/main">
              <a:ext uri="{FF2B5EF4-FFF2-40B4-BE49-F238E27FC236}">
                <a16:creationId xmlns:a16="http://schemas.microsoft.com/office/drawing/2014/main" id="{65DDEB9B-C5F5-4B76-B448-B45D31EA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810" y="3729990"/>
            <a:ext cx="7520940" cy="1223010"/>
          </a:xfrm>
          <a:prstGeom xmlns:a="http://schemas.openxmlformats.org/drawingml/2006/main" prst="roundRect">
            <a:avLst>
              <a:gd name="adj" fmla="val 6231"/>
            </a:avLst>
          </a:prstGeom>
          <a:solidFill xmlns:a="http://schemas.openxmlformats.org/drawingml/2006/main">
            <a:srgbClr val="F6F1EA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7" name="s5-x-value">
            <a:extLst xmlns:a="http://schemas.openxmlformats.org/drawingml/2006/main">
              <a:ext uri="{FF2B5EF4-FFF2-40B4-BE49-F238E27FC236}">
                <a16:creationId xmlns:a16="http://schemas.microsoft.com/office/drawing/2014/main" id="{5B4473D7-919F-47F4-AC4A-EC93FD84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943350"/>
            <a:ext cx="70294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5B63"/>
                </a:solidFill>
              </a:defRPr>
            </a:pPr>
            <a:r>
              <a:rPr sz="3600" b="1">
                <a:solidFill>
                  <a:srgbClr val="1F5B63"/>
                </a:solidFill>
              </a:rPr>
              <a:t>x_fg</a:t>
            </a:r>
          </a:p>
        </p:txBody>
      </p:sp>
      <p:sp>
        <p:nvSpPr>
          <p:cNvPr id="8" name="s5-x-caption">
            <a:extLst xmlns:a="http://schemas.openxmlformats.org/drawingml/2006/main">
              <a:ext uri="{FF2B5EF4-FFF2-40B4-BE49-F238E27FC236}">
                <a16:creationId xmlns:a16="http://schemas.microsoft.com/office/drawing/2014/main" id="{9D462820-0296-40F1-AAA9-340A9897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33900"/>
            <a:ext cx="7029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decision variable: pairs to produce</a:t>
            </a:r>
          </a:p>
        </p:txBody>
      </p:sp>
      <p:sp>
        <p:nvSpPr>
          <p:cNvPr id="9" name="s5-c2">
            <a:extLst xmlns:a="http://schemas.openxmlformats.org/drawingml/2006/main">
              <a:ext uri="{FF2B5EF4-FFF2-40B4-BE49-F238E27FC236}">
                <a16:creationId xmlns:a16="http://schemas.microsoft.com/office/drawing/2014/main" id="{4AE3889D-F660-4026-8E38-A6B5184A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810" y="5181600"/>
            <a:ext cx="7520940" cy="1154430"/>
          </a:xfrm>
          <a:prstGeom xmlns:a="http://schemas.openxmlformats.org/drawingml/2006/main" prst="roundRect">
            <a:avLst>
              <a:gd name="adj" fmla="val 6601"/>
            </a:avLst>
          </a:prstGeom>
          <a:solidFill xmlns:a="http://schemas.openxmlformats.org/drawingml/2006/main">
            <a:srgbClr val="F6F1EA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10" name="s5-bom-value">
            <a:extLst xmlns:a="http://schemas.openxmlformats.org/drawingml/2006/main">
              <a:ext uri="{FF2B5EF4-FFF2-40B4-BE49-F238E27FC236}">
                <a16:creationId xmlns:a16="http://schemas.microsoft.com/office/drawing/2014/main" id="{2AF66777-9018-407C-947D-B121E31C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391150"/>
            <a:ext cx="7029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A96533"/>
                </a:solidFill>
              </a:defRPr>
            </a:pPr>
            <a:r>
              <a:rPr sz="3150" b="1">
                <a:solidFill>
                  <a:srgbClr val="A96533"/>
                </a:solidFill>
              </a:rPr>
              <a:t>BOM x quantity &lt;= RM available</a:t>
            </a:r>
          </a:p>
        </p:txBody>
      </p:sp>
      <p:sp>
        <p:nvSpPr>
          <p:cNvPr id="11" name="s5-bom-caption">
            <a:extLst xmlns:a="http://schemas.openxmlformats.org/drawingml/2006/main">
              <a:ext uri="{FF2B5EF4-FFF2-40B4-BE49-F238E27FC236}">
                <a16:creationId xmlns:a16="http://schemas.microsoft.com/office/drawing/2014/main" id="{0942C612-DA9F-414C-B5C1-663DB715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905500"/>
            <a:ext cx="7029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constraint: material usage cannot exceed stock or stock plus PO</a:t>
            </a:r>
          </a:p>
        </p:txBody>
      </p:sp>
      <p:sp>
        <p:nvSpPr>
          <p:cNvPr id="12" name="s5-c3">
            <a:extLst xmlns:a="http://schemas.openxmlformats.org/drawingml/2006/main">
              <a:ext uri="{FF2B5EF4-FFF2-40B4-BE49-F238E27FC236}">
                <a16:creationId xmlns:a16="http://schemas.microsoft.com/office/drawing/2014/main" id="{E5E20635-46CE-4D1E-B617-0A7C07B6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810" y="6564630"/>
            <a:ext cx="7520940" cy="1154430"/>
          </a:xfrm>
          <a:prstGeom xmlns:a="http://schemas.openxmlformats.org/drawingml/2006/main" prst="roundRect">
            <a:avLst>
              <a:gd name="adj" fmla="val 6601"/>
            </a:avLst>
          </a:prstGeom>
          <a:solidFill xmlns:a="http://schemas.openxmlformats.org/drawingml/2006/main">
            <a:srgbClr val="F6F1EA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13" name="s5-cap-value">
            <a:extLst xmlns:a="http://schemas.openxmlformats.org/drawingml/2006/main">
              <a:ext uri="{FF2B5EF4-FFF2-40B4-BE49-F238E27FC236}">
                <a16:creationId xmlns:a16="http://schemas.microsoft.com/office/drawing/2014/main" id="{C5591246-76D1-40DB-A139-72B1A6EA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6781800"/>
            <a:ext cx="70294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8201D"/>
                </a:solidFill>
              </a:defRPr>
            </a:pPr>
            <a:r>
              <a:rPr sz="3150" b="1">
                <a:solidFill>
                  <a:srgbClr val="18201D"/>
                </a:solidFill>
              </a:rPr>
              <a:t>0 &lt;= x_fg &lt;= plan cap</a:t>
            </a:r>
          </a:p>
        </p:txBody>
      </p:sp>
      <p:sp>
        <p:nvSpPr>
          <p:cNvPr id="14" name="s5-cap-caption">
            <a:extLst xmlns:a="http://schemas.openxmlformats.org/drawingml/2006/main">
              <a:ext uri="{FF2B5EF4-FFF2-40B4-BE49-F238E27FC236}">
                <a16:creationId xmlns:a16="http://schemas.microsoft.com/office/drawing/2014/main" id="{9B11C6D5-1F48-44ED-BDC1-7F6999D5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7296150"/>
            <a:ext cx="7029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constraint: production recommendation stays inside the plan envelope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23706F2E-90F8-4924-98EF-575B995A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67850"/>
            <a:ext cx="1657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7867F"/>
                </a:solidFill>
              </a:defRPr>
            </a:pPr>
            <a:r>
              <a:rPr sz="1050">
                <a:solidFill>
                  <a:srgbClr val="77867F"/>
                </a:solidFill>
              </a:rPr>
              <a:t>Algorithm summary based on app/model.py and app/orchestrator.py.</a:t>
            </a:r>
          </a:p>
        </p:txBody>
      </p:sp>
    </p:spTree>
    <p:extLst>
      <p:ext uri="{BB962C8B-B14F-4D97-AF65-F5344CB8AC3E}">
        <p14:creationId xmlns:p14="http://schemas.microsoft.com/office/powerpoint/2010/main" val="17713004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84F678B-34F6-4B1E-A2FC-90279E8A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687086-3089-4C1C-BE97-B7B04947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6725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01D"/>
                </a:solidFill>
              </a:defRPr>
            </a:pPr>
            <a:r>
              <a:rPr sz="4050" b="1">
                <a:solidFill>
                  <a:srgbClr val="18201D"/>
                </a:solidFill>
              </a:rPr>
              <a:t>The project keeps the input model familiar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D0D3D1E-972A-4FA7-9878-354BDA19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12534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45E"/>
                </a:solidFill>
              </a:defRPr>
            </a:pPr>
            <a:r>
              <a:rPr sz="1875">
                <a:solidFill>
                  <a:srgbClr val="51645E"/>
                </a:solidFill>
              </a:rPr>
              <a:t>Planners bring named Excel tables. The app validates the workbook, runs the solver, and returns an output workbook designed for review.</a:t>
            </a:r>
          </a:p>
        </p:txBody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467D032-4F00-4423-9766-1C2AF0DA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628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5B63"/>
                </a:solidFill>
              </a:defRPr>
            </a:pPr>
            <a:r>
              <a:rPr sz="1200" b="1">
                <a:solidFill>
                  <a:srgbClr val="1F5B63"/>
                </a:solidFill>
              </a:rPr>
              <a:t>Input workbook</a:t>
            </a:r>
          </a:p>
        </p:txBody>
      </p:sp>
      <p:sp>
        <p:nvSpPr>
          <p:cNvPr id="5" name="s6-in-0">
            <a:extLst xmlns:a="http://schemas.openxmlformats.org/drawingml/2006/main">
              <a:ext uri="{FF2B5EF4-FFF2-40B4-BE49-F238E27FC236}">
                <a16:creationId xmlns:a16="http://schemas.microsoft.com/office/drawing/2014/main" id="{97133072-078B-4C05-8418-42E14402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3778"/>
            <a:ext cx="6280547" cy="802005"/>
          </a:xfrm>
          <a:prstGeom xmlns:a="http://schemas.openxmlformats.org/drawingml/2006/main" prst="roundRect">
            <a:avLst>
              <a:gd name="adj" fmla="val 950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6" name="s6-in-name-0">
            <a:extLst xmlns:a="http://schemas.openxmlformats.org/drawingml/2006/main">
              <a:ext uri="{FF2B5EF4-FFF2-40B4-BE49-F238E27FC236}">
                <a16:creationId xmlns:a16="http://schemas.microsoft.com/office/drawing/2014/main" id="{6E8FC8E8-E005-49F9-AC6F-1812B98B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586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01D"/>
                </a:solidFill>
              </a:defRPr>
            </a:pPr>
            <a:r>
              <a:rPr sz="1800" b="1">
                <a:solidFill>
                  <a:srgbClr val="18201D"/>
                </a:solidFill>
              </a:rPr>
              <a:t>fg_master</a:t>
            </a:r>
          </a:p>
        </p:txBody>
      </p:sp>
      <p:sp>
        <p:nvSpPr>
          <p:cNvPr id="7" name="s6-in-desc-0">
            <a:extLst xmlns:a="http://schemas.openxmlformats.org/drawingml/2006/main">
              <a:ext uri="{FF2B5EF4-FFF2-40B4-BE49-F238E27FC236}">
                <a16:creationId xmlns:a16="http://schemas.microsoft.com/office/drawing/2014/main" id="{C29FA72F-F739-4700-BAD2-E3AB3114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586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5E"/>
                </a:solidFill>
              </a:defRPr>
            </a:pPr>
            <a:r>
              <a:rPr sz="1275">
                <a:solidFill>
                  <a:srgbClr val="51645E"/>
                </a:solidFill>
              </a:rPr>
              <a:t>FG code and unit margin</a:t>
            </a:r>
          </a:p>
        </p:txBody>
      </p:sp>
      <p:sp>
        <p:nvSpPr>
          <p:cNvPr id="8" name="s6-in-1">
            <a:extLst xmlns:a="http://schemas.openxmlformats.org/drawingml/2006/main">
              <a:ext uri="{FF2B5EF4-FFF2-40B4-BE49-F238E27FC236}">
                <a16:creationId xmlns:a16="http://schemas.microsoft.com/office/drawing/2014/main" id="{9753FA1D-BFD1-4B64-BEE4-7ACD5E12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7233"/>
            <a:ext cx="6280547" cy="802005"/>
          </a:xfrm>
          <a:prstGeom xmlns:a="http://schemas.openxmlformats.org/drawingml/2006/main" prst="roundRect">
            <a:avLst>
              <a:gd name="adj" fmla="val 950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9" name="s6-in-name-1">
            <a:extLst xmlns:a="http://schemas.openxmlformats.org/drawingml/2006/main">
              <a:ext uri="{FF2B5EF4-FFF2-40B4-BE49-F238E27FC236}">
                <a16:creationId xmlns:a16="http://schemas.microsoft.com/office/drawing/2014/main" id="{3E1686C1-6015-4BFB-918A-5727A689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586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01D"/>
                </a:solidFill>
              </a:defRPr>
            </a:pPr>
            <a:r>
              <a:rPr sz="1800" b="1">
                <a:solidFill>
                  <a:srgbClr val="18201D"/>
                </a:solidFill>
              </a:rPr>
              <a:t>bom_master</a:t>
            </a:r>
          </a:p>
        </p:txBody>
      </p:sp>
      <p:sp>
        <p:nvSpPr>
          <p:cNvPr id="10" name="s6-in-desc-1">
            <a:extLst xmlns:a="http://schemas.openxmlformats.org/drawingml/2006/main">
              <a:ext uri="{FF2B5EF4-FFF2-40B4-BE49-F238E27FC236}">
                <a16:creationId xmlns:a16="http://schemas.microsoft.com/office/drawing/2014/main" id="{906A224B-DF77-4CA0-848B-9BD288E8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586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5E"/>
                </a:solidFill>
              </a:defRPr>
            </a:pPr>
            <a:r>
              <a:rPr sz="1275">
                <a:solidFill>
                  <a:srgbClr val="51645E"/>
                </a:solidFill>
              </a:rPr>
              <a:t>FG to RM usage per pair</a:t>
            </a:r>
          </a:p>
        </p:txBody>
      </p:sp>
      <p:sp>
        <p:nvSpPr>
          <p:cNvPr id="11" name="s6-in-2">
            <a:extLst xmlns:a="http://schemas.openxmlformats.org/drawingml/2006/main">
              <a:ext uri="{FF2B5EF4-FFF2-40B4-BE49-F238E27FC236}">
                <a16:creationId xmlns:a16="http://schemas.microsoft.com/office/drawing/2014/main" id="{EA799ADE-0A67-42AE-8A80-0B8EBB74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0688"/>
            <a:ext cx="6280547" cy="802005"/>
          </a:xfrm>
          <a:prstGeom xmlns:a="http://schemas.openxmlformats.org/drawingml/2006/main" prst="roundRect">
            <a:avLst>
              <a:gd name="adj" fmla="val 950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12" name="s6-in-name-2">
            <a:extLst xmlns:a="http://schemas.openxmlformats.org/drawingml/2006/main">
              <a:ext uri="{FF2B5EF4-FFF2-40B4-BE49-F238E27FC236}">
                <a16:creationId xmlns:a16="http://schemas.microsoft.com/office/drawing/2014/main" id="{7E812D6D-013C-4E07-BCC7-94F1EBF3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586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01D"/>
                </a:solidFill>
              </a:defRPr>
            </a:pPr>
            <a:r>
              <a:rPr sz="1800" b="1">
                <a:solidFill>
                  <a:srgbClr val="18201D"/>
                </a:solidFill>
              </a:rPr>
              <a:t>tblFGPlanCap</a:t>
            </a:r>
          </a:p>
        </p:txBody>
      </p:sp>
      <p:sp>
        <p:nvSpPr>
          <p:cNvPr id="13" name="s6-in-desc-2">
            <a:extLst xmlns:a="http://schemas.openxmlformats.org/drawingml/2006/main">
              <a:ext uri="{FF2B5EF4-FFF2-40B4-BE49-F238E27FC236}">
                <a16:creationId xmlns:a16="http://schemas.microsoft.com/office/drawing/2014/main" id="{91AC9FBC-E60F-406F-917F-A61DE975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62650"/>
            <a:ext cx="586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5E"/>
                </a:solidFill>
              </a:defRPr>
            </a:pPr>
            <a:r>
              <a:rPr sz="1275">
                <a:solidFill>
                  <a:srgbClr val="51645E"/>
                </a:solidFill>
              </a:rPr>
              <a:t>monthly plan cap by FG</a:t>
            </a:r>
          </a:p>
        </p:txBody>
      </p:sp>
      <p:sp>
        <p:nvSpPr>
          <p:cNvPr id="14" name="s6-in-3">
            <a:extLst xmlns:a="http://schemas.openxmlformats.org/drawingml/2006/main">
              <a:ext uri="{FF2B5EF4-FFF2-40B4-BE49-F238E27FC236}">
                <a16:creationId xmlns:a16="http://schemas.microsoft.com/office/drawing/2014/main" id="{45CD0C88-D8C2-4018-9E57-AE72BDE2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4143"/>
            <a:ext cx="6280547" cy="802005"/>
          </a:xfrm>
          <a:prstGeom xmlns:a="http://schemas.openxmlformats.org/drawingml/2006/main" prst="roundRect">
            <a:avLst>
              <a:gd name="adj" fmla="val 950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15" name="s6-in-name-3">
            <a:extLst xmlns:a="http://schemas.openxmlformats.org/drawingml/2006/main">
              <a:ext uri="{FF2B5EF4-FFF2-40B4-BE49-F238E27FC236}">
                <a16:creationId xmlns:a16="http://schemas.microsoft.com/office/drawing/2014/main" id="{89CF37B8-C1A4-4530-9C75-8DBB6C68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29400"/>
            <a:ext cx="586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01D"/>
                </a:solidFill>
              </a:defRPr>
            </a:pPr>
            <a:r>
              <a:rPr sz="1800" b="1">
                <a:solidFill>
                  <a:srgbClr val="18201D"/>
                </a:solidFill>
              </a:rPr>
              <a:t>tblRMAvail</a:t>
            </a:r>
          </a:p>
        </p:txBody>
      </p:sp>
      <p:sp>
        <p:nvSpPr>
          <p:cNvPr id="16" name="s6-in-desc-3">
            <a:extLst xmlns:a="http://schemas.openxmlformats.org/drawingml/2006/main">
              <a:ext uri="{FF2B5EF4-FFF2-40B4-BE49-F238E27FC236}">
                <a16:creationId xmlns:a16="http://schemas.microsoft.com/office/drawing/2014/main" id="{C5263034-095C-4EF3-9BF4-63A7FB2C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934200"/>
            <a:ext cx="586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5E"/>
                </a:solidFill>
              </a:defRPr>
            </a:pPr>
            <a:r>
              <a:rPr sz="1275">
                <a:solidFill>
                  <a:srgbClr val="51645E"/>
                </a:solidFill>
              </a:rPr>
              <a:t>stock, stock plus PO, RM rate</a:t>
            </a:r>
          </a:p>
        </p:txBody>
      </p:sp>
      <p:sp>
        <p:nvSpPr>
          <p:cNvPr id="17" name="s6-in-4">
            <a:extLst xmlns:a="http://schemas.openxmlformats.org/drawingml/2006/main">
              <a:ext uri="{FF2B5EF4-FFF2-40B4-BE49-F238E27FC236}">
                <a16:creationId xmlns:a16="http://schemas.microsoft.com/office/drawing/2014/main" id="{B8EA7FA8-7248-487D-9B80-7B594459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47598"/>
            <a:ext cx="6280547" cy="802005"/>
          </a:xfrm>
          <a:prstGeom xmlns:a="http://schemas.openxmlformats.org/drawingml/2006/main" prst="roundRect">
            <a:avLst>
              <a:gd name="adj" fmla="val 950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18" name="s6-in-name-4">
            <a:extLst xmlns:a="http://schemas.openxmlformats.org/drawingml/2006/main">
              <a:ext uri="{FF2B5EF4-FFF2-40B4-BE49-F238E27FC236}">
                <a16:creationId xmlns:a16="http://schemas.microsoft.com/office/drawing/2014/main" id="{79EDD9A1-8C7D-4023-88F9-B5AED1CF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600950"/>
            <a:ext cx="586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01D"/>
                </a:solidFill>
              </a:defRPr>
            </a:pPr>
            <a:r>
              <a:rPr sz="1800" b="1">
                <a:solidFill>
                  <a:srgbClr val="18201D"/>
                </a:solidFill>
              </a:rPr>
              <a:t>tblControl_2</a:t>
            </a:r>
          </a:p>
        </p:txBody>
      </p:sp>
      <p:sp>
        <p:nvSpPr>
          <p:cNvPr id="19" name="s6-in-desc-4">
            <a:extLst xmlns:a="http://schemas.openxmlformats.org/drawingml/2006/main">
              <a:ext uri="{FF2B5EF4-FFF2-40B4-BE49-F238E27FC236}">
                <a16:creationId xmlns:a16="http://schemas.microsoft.com/office/drawing/2014/main" id="{446D011F-C7ED-46FC-B8FF-4CF72C58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905750"/>
            <a:ext cx="586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5E"/>
                </a:solidFill>
              </a:defRPr>
            </a:pPr>
            <a:r>
              <a:rPr sz="1275">
                <a:solidFill>
                  <a:srgbClr val="51645E"/>
                </a:solidFill>
              </a:rPr>
              <a:t>objective and solver controls</a:t>
            </a:r>
          </a:p>
        </p:txBody>
      </p:sp>
      <p:sp>
        <p:nvSpPr>
          <p:cNvPr id="20" name="s6-core">
            <a:extLst xmlns:a="http://schemas.openxmlformats.org/drawingml/2006/main">
              <a:ext uri="{FF2B5EF4-FFF2-40B4-BE49-F238E27FC236}">
                <a16:creationId xmlns:a16="http://schemas.microsoft.com/office/drawing/2014/main" id="{3168C799-5129-4D33-BCF3-A09086EA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67200"/>
            <a:ext cx="20002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B63"/>
          </a:solidFill>
        </p:spPr>
      </p:sp>
      <p:sp>
        <p:nvSpPr>
          <p:cNvPr id="21" name="s6-core-label">
            <a:extLst xmlns:a="http://schemas.openxmlformats.org/drawingml/2006/main">
              <a:ext uri="{FF2B5EF4-FFF2-40B4-BE49-F238E27FC236}">
                <a16:creationId xmlns:a16="http://schemas.microsoft.com/office/drawing/2014/main" id="{B9B056AE-2495-4A53-859F-DF9602C6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496050"/>
            <a:ext cx="2057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3B42"/>
                </a:solidFill>
              </a:defRPr>
            </a:pPr>
            <a:r>
              <a:rPr sz="2250" b="1">
                <a:solidFill>
                  <a:srgbClr val="123B42"/>
                </a:solidFill>
              </a:rPr>
              <a:t>HiGHS-backed LP/MIP optimizer</a:t>
            </a:r>
          </a:p>
        </p:txBody>
      </p:sp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73769B3-718A-4820-A24E-53C89C78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00400"/>
            <a:ext cx="628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6533"/>
                </a:solidFill>
              </a:defRPr>
            </a:pPr>
            <a:r>
              <a:rPr sz="1200" b="1">
                <a:solidFill>
                  <a:srgbClr val="A96533"/>
                </a:solidFill>
              </a:rPr>
              <a:t>Output workbook</a:t>
            </a:r>
          </a:p>
        </p:txBody>
      </p:sp>
      <p:sp>
        <p:nvSpPr>
          <p:cNvPr id="23" name="s6-out-0">
            <a:extLst xmlns:a="http://schemas.openxmlformats.org/drawingml/2006/main">
              <a:ext uri="{FF2B5EF4-FFF2-40B4-BE49-F238E27FC236}">
                <a16:creationId xmlns:a16="http://schemas.microsoft.com/office/drawing/2014/main" id="{13D13C87-D86C-4C45-890F-92AEC0BD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403" y="3553778"/>
            <a:ext cx="6280547" cy="802005"/>
          </a:xfrm>
          <a:prstGeom xmlns:a="http://schemas.openxmlformats.org/drawingml/2006/main" prst="roundRect">
            <a:avLst>
              <a:gd name="adj" fmla="val 9501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24" name="s6-out-name-0">
            <a:extLst xmlns:a="http://schemas.openxmlformats.org/drawingml/2006/main">
              <a:ext uri="{FF2B5EF4-FFF2-40B4-BE49-F238E27FC236}">
                <a16:creationId xmlns:a16="http://schemas.microsoft.com/office/drawing/2014/main" id="{3558CAE1-195E-4EA4-841F-DB05A588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714750"/>
            <a:ext cx="586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01D"/>
                </a:solidFill>
              </a:defRPr>
            </a:pPr>
            <a:r>
              <a:rPr sz="1800" b="1">
                <a:solidFill>
                  <a:srgbClr val="18201D"/>
                </a:solidFill>
              </a:rPr>
              <a:t>FG_Result</a:t>
            </a:r>
          </a:p>
        </p:txBody>
      </p:sp>
      <p:sp>
        <p:nvSpPr>
          <p:cNvPr id="25" name="s6-out-desc-0">
            <a:extLst xmlns:a="http://schemas.openxmlformats.org/drawingml/2006/main">
              <a:ext uri="{FF2B5EF4-FFF2-40B4-BE49-F238E27FC236}">
                <a16:creationId xmlns:a16="http://schemas.microsoft.com/office/drawing/2014/main" id="{D5F5CB44-E253-462D-A4C8-ADB3175D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000500"/>
            <a:ext cx="586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5E"/>
                </a:solidFill>
              </a:defRPr>
            </a:pPr>
            <a:r>
              <a:rPr sz="1275">
                <a:solidFill>
                  <a:srgbClr val="51645E"/>
                </a:solidFill>
              </a:rPr>
              <a:t>what to build and what is short</a:t>
            </a:r>
          </a:p>
        </p:txBody>
      </p:sp>
      <p:sp>
        <p:nvSpPr>
          <p:cNvPr id="26" name="s6-out-1">
            <a:extLst xmlns:a="http://schemas.openxmlformats.org/drawingml/2006/main">
              <a:ext uri="{FF2B5EF4-FFF2-40B4-BE49-F238E27FC236}">
                <a16:creationId xmlns:a16="http://schemas.microsoft.com/office/drawing/2014/main" id="{036C201A-DAA1-4BE1-8BC9-411D4EAF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403" y="4527233"/>
            <a:ext cx="6280547" cy="802005"/>
          </a:xfrm>
          <a:prstGeom xmlns:a="http://schemas.openxmlformats.org/drawingml/2006/main" prst="roundRect">
            <a:avLst>
              <a:gd name="adj" fmla="val 9501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27" name="s6-out-name-1">
            <a:extLst xmlns:a="http://schemas.openxmlformats.org/drawingml/2006/main">
              <a:ext uri="{FF2B5EF4-FFF2-40B4-BE49-F238E27FC236}">
                <a16:creationId xmlns:a16="http://schemas.microsoft.com/office/drawing/2014/main" id="{4B4B6186-D67E-472A-B4AF-185ED169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686300"/>
            <a:ext cx="586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01D"/>
                </a:solidFill>
              </a:defRPr>
            </a:pPr>
            <a:r>
              <a:rPr sz="1800" b="1">
                <a:solidFill>
                  <a:srgbClr val="18201D"/>
                </a:solidFill>
              </a:rPr>
              <a:t>RM_Diagnostic</a:t>
            </a:r>
          </a:p>
        </p:txBody>
      </p:sp>
      <p:sp>
        <p:nvSpPr>
          <p:cNvPr id="28" name="s6-out-desc-1">
            <a:extLst xmlns:a="http://schemas.openxmlformats.org/drawingml/2006/main">
              <a:ext uri="{FF2B5EF4-FFF2-40B4-BE49-F238E27FC236}">
                <a16:creationId xmlns:a16="http://schemas.microsoft.com/office/drawing/2014/main" id="{BE7B39E2-F6AF-4EF9-AB15-7E146B65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991100"/>
            <a:ext cx="586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5E"/>
                </a:solidFill>
              </a:defRPr>
            </a:pPr>
            <a:r>
              <a:rPr sz="1275">
                <a:solidFill>
                  <a:srgbClr val="51645E"/>
                </a:solidFill>
              </a:rPr>
              <a:t>which materials are tight</a:t>
            </a:r>
          </a:p>
        </p:txBody>
      </p:sp>
      <p:sp>
        <p:nvSpPr>
          <p:cNvPr id="29" name="s6-out-2">
            <a:extLst xmlns:a="http://schemas.openxmlformats.org/drawingml/2006/main">
              <a:ext uri="{FF2B5EF4-FFF2-40B4-BE49-F238E27FC236}">
                <a16:creationId xmlns:a16="http://schemas.microsoft.com/office/drawing/2014/main" id="{0839E666-5A45-4EBD-ADFD-5184DF7E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403" y="5500688"/>
            <a:ext cx="6280547" cy="802005"/>
          </a:xfrm>
          <a:prstGeom xmlns:a="http://schemas.openxmlformats.org/drawingml/2006/main" prst="roundRect">
            <a:avLst>
              <a:gd name="adj" fmla="val 9501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30" name="s6-out-name-2">
            <a:extLst xmlns:a="http://schemas.openxmlformats.org/drawingml/2006/main">
              <a:ext uri="{FF2B5EF4-FFF2-40B4-BE49-F238E27FC236}">
                <a16:creationId xmlns:a16="http://schemas.microsoft.com/office/drawing/2014/main" id="{944A9548-285F-4829-A79F-5D3D503D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657850"/>
            <a:ext cx="586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01D"/>
                </a:solidFill>
              </a:defRPr>
            </a:pPr>
            <a:r>
              <a:rPr sz="1800" b="1">
                <a:solidFill>
                  <a:srgbClr val="18201D"/>
                </a:solidFill>
              </a:rPr>
              <a:t>Purchase_Summary</a:t>
            </a:r>
          </a:p>
        </p:txBody>
      </p:sp>
      <p:sp>
        <p:nvSpPr>
          <p:cNvPr id="31" name="s6-out-desc-2">
            <a:extLst xmlns:a="http://schemas.openxmlformats.org/drawingml/2006/main">
              <a:ext uri="{FF2B5EF4-FFF2-40B4-BE49-F238E27FC236}">
                <a16:creationId xmlns:a16="http://schemas.microsoft.com/office/drawing/2014/main" id="{0E711646-D3FE-497A-89AF-FF474D05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962650"/>
            <a:ext cx="586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5E"/>
                </a:solidFill>
              </a:defRPr>
            </a:pPr>
            <a:r>
              <a:rPr sz="1275">
                <a:solidFill>
                  <a:srgbClr val="51645E"/>
                </a:solidFill>
              </a:rPr>
              <a:t>target fill vs buy cost</a:t>
            </a:r>
          </a:p>
        </p:txBody>
      </p:sp>
      <p:sp>
        <p:nvSpPr>
          <p:cNvPr id="32" name="s6-out-3">
            <a:extLst xmlns:a="http://schemas.openxmlformats.org/drawingml/2006/main">
              <a:ext uri="{FF2B5EF4-FFF2-40B4-BE49-F238E27FC236}">
                <a16:creationId xmlns:a16="http://schemas.microsoft.com/office/drawing/2014/main" id="{2AC565EB-02FA-4186-832E-0492C501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403" y="6474143"/>
            <a:ext cx="6280547" cy="802005"/>
          </a:xfrm>
          <a:prstGeom xmlns:a="http://schemas.openxmlformats.org/drawingml/2006/main" prst="roundRect">
            <a:avLst>
              <a:gd name="adj" fmla="val 9501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33" name="s6-out-name-3">
            <a:extLst xmlns:a="http://schemas.openxmlformats.org/drawingml/2006/main">
              <a:ext uri="{FF2B5EF4-FFF2-40B4-BE49-F238E27FC236}">
                <a16:creationId xmlns:a16="http://schemas.microsoft.com/office/drawing/2014/main" id="{2B22AED4-88DF-46D7-9D6C-9876047A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629400"/>
            <a:ext cx="586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01D"/>
                </a:solidFill>
              </a:defRPr>
            </a:pPr>
            <a:r>
              <a:rPr sz="1800" b="1">
                <a:solidFill>
                  <a:srgbClr val="18201D"/>
                </a:solidFill>
              </a:rPr>
              <a:t>Purchase_Detail</a:t>
            </a:r>
          </a:p>
        </p:txBody>
      </p:sp>
      <p:sp>
        <p:nvSpPr>
          <p:cNvPr id="34" name="s6-out-desc-3">
            <a:extLst xmlns:a="http://schemas.openxmlformats.org/drawingml/2006/main">
              <a:ext uri="{FF2B5EF4-FFF2-40B4-BE49-F238E27FC236}">
                <a16:creationId xmlns:a16="http://schemas.microsoft.com/office/drawing/2014/main" id="{7D9BD145-D24D-4BAC-91E3-D79768BD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934200"/>
            <a:ext cx="586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5E"/>
                </a:solidFill>
              </a:defRPr>
            </a:pPr>
            <a:r>
              <a:rPr sz="1275">
                <a:solidFill>
                  <a:srgbClr val="51645E"/>
                </a:solidFill>
              </a:rPr>
              <a:t>RM-level buy quantities</a:t>
            </a:r>
          </a:p>
        </p:txBody>
      </p:sp>
      <p:sp>
        <p:nvSpPr>
          <p:cNvPr id="35" name="s6-out-4">
            <a:extLst xmlns:a="http://schemas.openxmlformats.org/drawingml/2006/main">
              <a:ext uri="{FF2B5EF4-FFF2-40B4-BE49-F238E27FC236}">
                <a16:creationId xmlns:a16="http://schemas.microsoft.com/office/drawing/2014/main" id="{60E9D35B-8746-42C7-9282-7A2CBD6B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403" y="7447598"/>
            <a:ext cx="6280547" cy="802005"/>
          </a:xfrm>
          <a:prstGeom xmlns:a="http://schemas.openxmlformats.org/drawingml/2006/main" prst="roundRect">
            <a:avLst>
              <a:gd name="adj" fmla="val 9501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36" name="s6-out-name-4">
            <a:extLst xmlns:a="http://schemas.openxmlformats.org/drawingml/2006/main">
              <a:ext uri="{FF2B5EF4-FFF2-40B4-BE49-F238E27FC236}">
                <a16:creationId xmlns:a16="http://schemas.microsoft.com/office/drawing/2014/main" id="{3415EB6C-400B-481E-AE9F-6E33A22B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600950"/>
            <a:ext cx="586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01D"/>
                </a:solidFill>
              </a:defRPr>
            </a:pPr>
            <a:r>
              <a:rPr sz="1800" b="1">
                <a:solidFill>
                  <a:srgbClr val="18201D"/>
                </a:solidFill>
              </a:rPr>
              <a:t>Run_Metadata</a:t>
            </a:r>
          </a:p>
        </p:txBody>
      </p:sp>
      <p:sp>
        <p:nvSpPr>
          <p:cNvPr id="37" name="s6-out-desc-4">
            <a:extLst xmlns:a="http://schemas.openxmlformats.org/drawingml/2006/main">
              <a:ext uri="{FF2B5EF4-FFF2-40B4-BE49-F238E27FC236}">
                <a16:creationId xmlns:a16="http://schemas.microsoft.com/office/drawing/2014/main" id="{944C4718-A8C8-4A80-86E2-E4608AB1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905750"/>
            <a:ext cx="586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1645E"/>
                </a:solidFill>
              </a:defRPr>
            </a:pPr>
            <a:r>
              <a:rPr sz="1275">
                <a:solidFill>
                  <a:srgbClr val="51645E"/>
                </a:solidFill>
              </a:rPr>
              <a:t>status, timings, audit flags</a:t>
            </a:r>
          </a:p>
        </p:txBody>
      </p:sp>
      <p:sp>
        <p:nvSpPr>
          <p:cNvPr id="38" name="footer">
            <a:extLst xmlns:a="http://schemas.openxmlformats.org/drawingml/2006/main">
              <a:ext uri="{FF2B5EF4-FFF2-40B4-BE49-F238E27FC236}">
                <a16:creationId xmlns:a16="http://schemas.microsoft.com/office/drawing/2014/main" id="{C98E1984-9C99-4901-AFE7-B84EE834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44050"/>
            <a:ext cx="1672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7867F"/>
                </a:solidFill>
              </a:defRPr>
            </a:pPr>
            <a:r>
              <a:rPr sz="1050">
                <a:solidFill>
                  <a:srgbClr val="77867F"/>
                </a:solidFill>
              </a:rPr>
              <a:t>Workbook interface from README.md and app/config.py.</a:t>
            </a:r>
          </a:p>
        </p:txBody>
      </p:sp>
    </p:spTree>
    <p:extLst>
      <p:ext uri="{BB962C8B-B14F-4D97-AF65-F5344CB8AC3E}">
        <p14:creationId xmlns:p14="http://schemas.microsoft.com/office/powerpoint/2010/main" val="17079755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1553F53-49A9-4236-A0A8-8DDD2AA3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BA36E1-672A-4B43-9DDF-A1B6A409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01D"/>
                </a:solidFill>
              </a:defRPr>
            </a:pPr>
            <a:r>
              <a:rPr sz="4050" b="1">
                <a:solidFill>
                  <a:srgbClr val="18201D"/>
                </a:solidFill>
              </a:rPr>
              <a:t>The solver turns planning into a constrained optimization model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C9744E-9222-4C28-9A38-845E019D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1247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45E"/>
                </a:solidFill>
              </a:defRPr>
            </a:pPr>
            <a:r>
              <a:rPr sz="1875">
                <a:solidFill>
                  <a:srgbClr val="51645E"/>
                </a:solidFill>
              </a:rPr>
              <a:t>The code builds a sparse coefficient matrix from the BOM, then solves integer quantities against raw-material rows and plan caps.</a:t>
            </a:r>
          </a:p>
        </p:txBody>
      </p:sp>
      <p:sp>
        <p:nvSpPr>
          <p:cNvPr id="4" name="s7-eq-1">
            <a:extLst xmlns:a="http://schemas.openxmlformats.org/drawingml/2006/main">
              <a:ext uri="{FF2B5EF4-FFF2-40B4-BE49-F238E27FC236}">
                <a16:creationId xmlns:a16="http://schemas.microsoft.com/office/drawing/2014/main" id="{973389C5-599A-4426-86FC-1BC5A833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887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8201D"/>
                </a:solidFill>
              </a:defRPr>
            </a:pPr>
            <a:r>
              <a:rPr sz="4200" b="1">
                <a:solidFill>
                  <a:srgbClr val="18201D"/>
                </a:solidFill>
              </a:rPr>
              <a:t>Maximize objective</a:t>
            </a:r>
          </a:p>
        </p:txBody>
      </p:sp>
      <p:sp>
        <p:nvSpPr>
          <p:cNvPr id="5" name="s7-eq-2">
            <a:extLst xmlns:a="http://schemas.openxmlformats.org/drawingml/2006/main">
              <a:ext uri="{FF2B5EF4-FFF2-40B4-BE49-F238E27FC236}">
                <a16:creationId xmlns:a16="http://schemas.microsoft.com/office/drawing/2014/main" id="{DCA6F01C-709F-4E0F-BA32-76D556A1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8877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77867F"/>
                </a:solidFill>
              </a:defRPr>
            </a:pPr>
            <a:r>
              <a:rPr sz="1950">
                <a:solidFill>
                  <a:srgbClr val="77867F"/>
                </a:solidFill>
              </a:rPr>
              <a:t>subject to</a:t>
            </a:r>
          </a:p>
        </p:txBody>
      </p:sp>
      <p:sp>
        <p:nvSpPr>
          <p:cNvPr id="6" name="s7-eq-3">
            <a:extLst xmlns:a="http://schemas.openxmlformats.org/drawingml/2006/main">
              <a:ext uri="{FF2B5EF4-FFF2-40B4-BE49-F238E27FC236}">
                <a16:creationId xmlns:a16="http://schemas.microsoft.com/office/drawing/2014/main" id="{1F43991B-04CC-4B79-A90C-76BFD189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36195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3B42"/>
                </a:solidFill>
              </a:defRPr>
            </a:pPr>
            <a:r>
              <a:rPr sz="2850" b="1">
                <a:solidFill>
                  <a:srgbClr val="123B42"/>
                </a:solidFill>
              </a:rPr>
              <a:t>RM usage &lt;= availability</a:t>
            </a:r>
          </a:p>
          <a:p xmlns:a="http://schemas.openxmlformats.org/drawingml/2006/main">
            <a:pPr>
              <a:defRPr sz="2850" b="1">
                <a:solidFill>
                  <a:srgbClr val="123B42"/>
                </a:solidFill>
              </a:defRPr>
            </a:pPr>
            <a:r>
              <a:rPr sz="2850" b="1">
                <a:solidFill>
                  <a:srgbClr val="123B42"/>
                </a:solidFill>
              </a:rPr>
              <a:t>FG quantity &lt;= plan cap</a:t>
            </a:r>
          </a:p>
          <a:p xmlns:a="http://schemas.openxmlformats.org/drawingml/2006/main">
            <a:pPr>
              <a:defRPr sz="2850" b="1">
                <a:solidFill>
                  <a:srgbClr val="123B42"/>
                </a:solidFill>
              </a:defRPr>
            </a:pPr>
            <a:r>
              <a:rPr sz="2850" b="1">
                <a:solidFill>
                  <a:srgbClr val="123B42"/>
                </a:solidFill>
              </a:rPr>
              <a:t>FG quantity is integer</a:t>
            </a:r>
          </a:p>
        </p:txBody>
      </p:sp>
      <p:sp>
        <p:nvSpPr>
          <p:cNvPr id="7" name="s7-routing">
            <a:extLst xmlns:a="http://schemas.openxmlformats.org/drawingml/2006/main">
              <a:ext uri="{FF2B5EF4-FFF2-40B4-BE49-F238E27FC236}">
                <a16:creationId xmlns:a16="http://schemas.microsoft.com/office/drawing/2014/main" id="{68688559-A78E-47CD-A505-3F052F69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7943" y="1931670"/>
            <a:ext cx="7260908" cy="7299960"/>
          </a:xfrm>
          <a:prstGeom xmlns:a="http://schemas.openxmlformats.org/drawingml/2006/main" prst="roundRect">
            <a:avLst>
              <a:gd name="adj" fmla="val 1049"/>
            </a:avLst>
          </a:prstGeom>
          <a:solidFill xmlns:a="http://schemas.openxmlformats.org/drawingml/2006/main">
            <a:srgbClr val="F6F1EA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A0C606E-CCD7-43ED-8A77-4D330500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209800"/>
            <a:ext cx="6610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5B63"/>
                </a:solidFill>
              </a:defRPr>
            </a:pPr>
            <a:r>
              <a:rPr sz="1200" b="1">
                <a:solidFill>
                  <a:srgbClr val="1F5B63"/>
                </a:solidFill>
              </a:rPr>
              <a:t>Objective routing</a:t>
            </a:r>
          </a:p>
        </p:txBody>
      </p:sp>
      <p:sp>
        <p:nvSpPr>
          <p:cNvPr id="9" name="s7-routing-table-header-0">
            <a:extLst xmlns:a="http://schemas.openxmlformats.org/drawingml/2006/main">
              <a:ext uri="{FF2B5EF4-FFF2-40B4-BE49-F238E27FC236}">
                <a16:creationId xmlns:a16="http://schemas.microsoft.com/office/drawing/2014/main" id="{7EC97237-9787-45BD-85DB-242062A5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9080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42"/>
                </a:solidFill>
              </a:defRPr>
            </a:pPr>
            <a:r>
              <a:rPr sz="1200" b="1">
                <a:solidFill>
                  <a:srgbClr val="123B42"/>
                </a:solidFill>
              </a:rPr>
              <a:t>Mode</a:t>
            </a:r>
          </a:p>
        </p:txBody>
      </p:sp>
      <p:sp>
        <p:nvSpPr>
          <p:cNvPr id="10" name="s7-routing-table-header-1">
            <a:extLst xmlns:a="http://schemas.openxmlformats.org/drawingml/2006/main">
              <a:ext uri="{FF2B5EF4-FFF2-40B4-BE49-F238E27FC236}">
                <a16:creationId xmlns:a16="http://schemas.microsoft.com/office/drawing/2014/main" id="{52DEA2F4-AB3A-4A09-B073-DCF27C16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590800"/>
            <a:ext cx="4876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42"/>
                </a:solidFill>
              </a:defRPr>
            </a:pPr>
            <a:r>
              <a:rPr sz="1200" b="1">
                <a:solidFill>
                  <a:srgbClr val="123B42"/>
                </a:solidFill>
              </a:rPr>
              <a:t>What it optimizes</a:t>
            </a:r>
          </a:p>
        </p:txBody>
      </p:sp>
      <p:sp>
        <p:nvSpPr>
          <p:cNvPr id="11" name="s7-routing-table-row-rule-0">
            <a:extLst xmlns:a="http://schemas.openxmlformats.org/drawingml/2006/main">
              <a:ext uri="{FF2B5EF4-FFF2-40B4-BE49-F238E27FC236}">
                <a16:creationId xmlns:a16="http://schemas.microsoft.com/office/drawing/2014/main" id="{F75CAD42-5310-4EA6-A796-53692CFA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1465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12" name="s7-routing-table-cell-0-0">
            <a:extLst xmlns:a="http://schemas.openxmlformats.org/drawingml/2006/main">
              <a:ext uri="{FF2B5EF4-FFF2-40B4-BE49-F238E27FC236}">
                <a16:creationId xmlns:a16="http://schemas.microsoft.com/office/drawing/2014/main" id="{38684734-C7C3-434A-843C-FD7A6CA2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0099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01D"/>
                </a:solidFill>
              </a:defRPr>
            </a:pPr>
            <a:r>
              <a:rPr sz="1650" b="1">
                <a:solidFill>
                  <a:srgbClr val="18201D"/>
                </a:solidFill>
              </a:rPr>
              <a:t>PAIRS</a:t>
            </a:r>
          </a:p>
        </p:txBody>
      </p:sp>
      <p:sp>
        <p:nvSpPr>
          <p:cNvPr id="13" name="s7-routing-table-cell-0-1">
            <a:extLst xmlns:a="http://schemas.openxmlformats.org/drawingml/2006/main">
              <a:ext uri="{FF2B5EF4-FFF2-40B4-BE49-F238E27FC236}">
                <a16:creationId xmlns:a16="http://schemas.microsoft.com/office/drawing/2014/main" id="{25322071-35BB-4463-934B-FC0C9347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09900"/>
            <a:ext cx="487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45E"/>
                </a:solidFill>
              </a:defRPr>
            </a:pPr>
            <a:r>
              <a:rPr sz="1650" b="0">
                <a:solidFill>
                  <a:srgbClr val="51645E"/>
                </a:solidFill>
              </a:rPr>
              <a:t>maximum total production pairs</a:t>
            </a:r>
          </a:p>
        </p:txBody>
      </p:sp>
      <p:sp>
        <p:nvSpPr>
          <p:cNvPr id="14" name="s7-routing-table-row-rule-1">
            <a:extLst xmlns:a="http://schemas.openxmlformats.org/drawingml/2006/main">
              <a:ext uri="{FF2B5EF4-FFF2-40B4-BE49-F238E27FC236}">
                <a16:creationId xmlns:a16="http://schemas.microsoft.com/office/drawing/2014/main" id="{77333089-2DC9-49FB-8BEE-4E5331CB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39090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15" name="s7-routing-table-cell-1-0">
            <a:extLst xmlns:a="http://schemas.openxmlformats.org/drawingml/2006/main">
              <a:ext uri="{FF2B5EF4-FFF2-40B4-BE49-F238E27FC236}">
                <a16:creationId xmlns:a16="http://schemas.microsoft.com/office/drawing/2014/main" id="{619C3A48-41B6-44F4-B4D7-50A8E460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50520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01D"/>
                </a:solidFill>
              </a:defRPr>
            </a:pPr>
            <a:r>
              <a:rPr sz="1650" b="1">
                <a:solidFill>
                  <a:srgbClr val="18201D"/>
                </a:solidFill>
              </a:rPr>
              <a:t>MARGIN</a:t>
            </a:r>
          </a:p>
        </p:txBody>
      </p:sp>
      <p:sp>
        <p:nvSpPr>
          <p:cNvPr id="16" name="s7-routing-table-cell-1-1">
            <a:extLst xmlns:a="http://schemas.openxmlformats.org/drawingml/2006/main">
              <a:ext uri="{FF2B5EF4-FFF2-40B4-BE49-F238E27FC236}">
                <a16:creationId xmlns:a16="http://schemas.microsoft.com/office/drawing/2014/main" id="{2285CE31-DDF5-4085-9A07-077A29FF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505200"/>
            <a:ext cx="487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45E"/>
                </a:solidFill>
              </a:defRPr>
            </a:pPr>
            <a:r>
              <a:rPr sz="1650" b="0">
                <a:solidFill>
                  <a:srgbClr val="51645E"/>
                </a:solidFill>
              </a:rPr>
              <a:t>maximum total margin</a:t>
            </a:r>
          </a:p>
        </p:txBody>
      </p:sp>
      <p:sp>
        <p:nvSpPr>
          <p:cNvPr id="17" name="s7-routing-table-row-rule-2">
            <a:extLst xmlns:a="http://schemas.openxmlformats.org/drawingml/2006/main">
              <a:ext uri="{FF2B5EF4-FFF2-40B4-BE49-F238E27FC236}">
                <a16:creationId xmlns:a16="http://schemas.microsoft.com/office/drawing/2014/main" id="{1749939A-03FC-42CC-86C0-EA46C94B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88620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18" name="s7-routing-table-cell-2-0">
            <a:extLst xmlns:a="http://schemas.openxmlformats.org/drawingml/2006/main">
              <a:ext uri="{FF2B5EF4-FFF2-40B4-BE49-F238E27FC236}">
                <a16:creationId xmlns:a16="http://schemas.microsoft.com/office/drawing/2014/main" id="{CB955CA3-C9D2-4FFE-986C-E08C1D32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9814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01D"/>
                </a:solidFill>
              </a:defRPr>
            </a:pPr>
            <a:r>
              <a:rPr sz="1650" b="1">
                <a:solidFill>
                  <a:srgbClr val="18201D"/>
                </a:solidFill>
              </a:rPr>
              <a:t>PLAN</a:t>
            </a:r>
          </a:p>
        </p:txBody>
      </p:sp>
      <p:sp>
        <p:nvSpPr>
          <p:cNvPr id="19" name="s7-routing-table-cell-2-1">
            <a:extLst xmlns:a="http://schemas.openxmlformats.org/drawingml/2006/main">
              <a:ext uri="{FF2B5EF4-FFF2-40B4-BE49-F238E27FC236}">
                <a16:creationId xmlns:a16="http://schemas.microsoft.com/office/drawing/2014/main" id="{DDA2BFA9-4B0D-4170-A561-2D42ECF7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981450"/>
            <a:ext cx="487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45E"/>
                </a:solidFill>
              </a:defRPr>
            </a:pPr>
            <a:r>
              <a:rPr sz="1650" b="0">
                <a:solidFill>
                  <a:srgbClr val="51645E"/>
                </a:solidFill>
              </a:rPr>
              <a:t>pair fill first, then margin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C07753A6-F228-4DF6-BE13-60AE33EC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7867F"/>
                </a:solidFill>
              </a:defRPr>
            </a:pPr>
            <a:r>
              <a:rPr sz="1050">
                <a:solidFill>
                  <a:srgbClr val="77867F"/>
                </a:solidFill>
              </a:rPr>
              <a:t>Implementation source: app/model.py and app/orchestrator.py.</a:t>
            </a:r>
          </a:p>
        </p:txBody>
      </p:sp>
    </p:spTree>
    <p:extLst>
      <p:ext uri="{BB962C8B-B14F-4D97-AF65-F5344CB8AC3E}">
        <p14:creationId xmlns:p14="http://schemas.microsoft.com/office/powerpoint/2010/main" val="12387370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3420614-29BE-433D-82BE-B961B953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AD0F8D-EF10-4193-AA72-93BEBBD3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01D"/>
                </a:solidFill>
              </a:defRPr>
            </a:pPr>
            <a:r>
              <a:rPr sz="4050" b="1">
                <a:solidFill>
                  <a:srgbClr val="18201D"/>
                </a:solidFill>
              </a:rPr>
              <a:t>PLAN objective uses a lexicographic solve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B5D887C-9E5A-4432-8C10-4BD629B9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2534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45E"/>
                </a:solidFill>
              </a:defRPr>
            </a:pPr>
            <a:r>
              <a:rPr sz="1875">
                <a:solidFill>
                  <a:srgbClr val="51645E"/>
                </a:solidFill>
              </a:rPr>
              <a:t>For planners, service fill usually comes first. Once the pair count is locked, the optimizer chooses the best-margin mix at that same output level.</a:t>
            </a:r>
          </a:p>
        </p:txBody>
      </p:sp>
      <p:sp>
        <p:nvSpPr>
          <p:cNvPr id="4" name="s8-stage1">
            <a:extLst xmlns:a="http://schemas.openxmlformats.org/drawingml/2006/main">
              <a:ext uri="{FF2B5EF4-FFF2-40B4-BE49-F238E27FC236}">
                <a16:creationId xmlns:a16="http://schemas.microsoft.com/office/drawing/2014/main" id="{6120BB67-AC21-49AA-846E-141D497A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5520"/>
            <a:ext cx="8105775" cy="6938010"/>
          </a:xfrm>
          <a:prstGeom xmlns:a="http://schemas.openxmlformats.org/drawingml/2006/main" prst="roundRect">
            <a:avLst>
              <a:gd name="adj" fmla="val 10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3782A02-5DBF-4BA3-8E82-E2A76F30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731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5B63"/>
                </a:solidFill>
              </a:defRPr>
            </a:pPr>
            <a:r>
              <a:rPr sz="1200" b="1">
                <a:solidFill>
                  <a:srgbClr val="1F5B63"/>
                </a:solidFill>
              </a:rPr>
              <a:t>Stage 1</a:t>
            </a:r>
          </a:p>
        </p:txBody>
      </p:sp>
      <p:sp>
        <p:nvSpPr>
          <p:cNvPr id="6" name="s8-stage1-title">
            <a:extLst xmlns:a="http://schemas.openxmlformats.org/drawingml/2006/main">
              <a:ext uri="{FF2B5EF4-FFF2-40B4-BE49-F238E27FC236}">
                <a16:creationId xmlns:a16="http://schemas.microsoft.com/office/drawing/2014/main" id="{B4BD8135-8B49-460A-AE3D-8D9405F5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7315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23B42"/>
                </a:solidFill>
              </a:defRPr>
            </a:pPr>
            <a:r>
              <a:rPr sz="4500" b="1">
                <a:solidFill>
                  <a:srgbClr val="123B42"/>
                </a:solidFill>
              </a:rPr>
              <a:t>Maximize pairs</a:t>
            </a:r>
          </a:p>
        </p:txBody>
      </p:sp>
      <p:sp>
        <p:nvSpPr>
          <p:cNvPr id="7" name="s8-stage1-copy">
            <a:extLst xmlns:a="http://schemas.openxmlformats.org/drawingml/2006/main">
              <a:ext uri="{FF2B5EF4-FFF2-40B4-BE49-F238E27FC236}">
                <a16:creationId xmlns:a16="http://schemas.microsoft.com/office/drawing/2014/main" id="{2DADA321-94C1-4B40-A626-0B16CB6B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96000"/>
            <a:ext cx="6705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1645E"/>
                </a:solidFill>
              </a:defRPr>
            </a:pPr>
            <a:r>
              <a:rPr sz="1950">
                <a:solidFill>
                  <a:srgbClr val="51645E"/>
                </a:solidFill>
              </a:rPr>
              <a:t>Find P_star: the highest feasible production quantity under current RM availability and plan caps.</a:t>
            </a:r>
          </a:p>
        </p:txBody>
      </p:sp>
      <p:sp>
        <p:nvSpPr>
          <p:cNvPr id="8" name="s8-stage2">
            <a:extLst xmlns:a="http://schemas.openxmlformats.org/drawingml/2006/main">
              <a:ext uri="{FF2B5EF4-FFF2-40B4-BE49-F238E27FC236}">
                <a16:creationId xmlns:a16="http://schemas.microsoft.com/office/drawing/2014/main" id="{40B4AC8A-387C-466B-A92C-422D197A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55520"/>
            <a:ext cx="8105775" cy="6938010"/>
          </a:xfrm>
          <a:prstGeom xmlns:a="http://schemas.openxmlformats.org/drawingml/2006/main" prst="roundRect">
            <a:avLst>
              <a:gd name="adj" fmla="val 1098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BA3AAA4-02C0-4996-A8A0-B4CAEB79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62500"/>
            <a:ext cx="7315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6533"/>
                </a:solidFill>
              </a:defRPr>
            </a:pPr>
            <a:r>
              <a:rPr sz="1200" b="1">
                <a:solidFill>
                  <a:srgbClr val="A96533"/>
                </a:solidFill>
              </a:rPr>
              <a:t>Stage 2</a:t>
            </a:r>
          </a:p>
        </p:txBody>
      </p:sp>
      <p:sp>
        <p:nvSpPr>
          <p:cNvPr id="10" name="s8-stage2-title">
            <a:extLst xmlns:a="http://schemas.openxmlformats.org/drawingml/2006/main">
              <a:ext uri="{FF2B5EF4-FFF2-40B4-BE49-F238E27FC236}">
                <a16:creationId xmlns:a16="http://schemas.microsoft.com/office/drawing/2014/main" id="{5CD7EBEE-76C5-4DF8-B62B-48DDE2FB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181600"/>
            <a:ext cx="7315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A96533"/>
                </a:solidFill>
              </a:defRPr>
            </a:pPr>
            <a:r>
              <a:rPr sz="4500" b="1">
                <a:solidFill>
                  <a:srgbClr val="A96533"/>
                </a:solidFill>
              </a:rPr>
              <a:t>Maximize margin at P_star</a:t>
            </a:r>
          </a:p>
        </p:txBody>
      </p:sp>
      <p:sp>
        <p:nvSpPr>
          <p:cNvPr id="11" name="s8-stage2-copy">
            <a:extLst xmlns:a="http://schemas.openxmlformats.org/drawingml/2006/main">
              <a:ext uri="{FF2B5EF4-FFF2-40B4-BE49-F238E27FC236}">
                <a16:creationId xmlns:a16="http://schemas.microsoft.com/office/drawing/2014/main" id="{66DB837F-4984-4C5F-83B5-BD6D2779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096000"/>
            <a:ext cx="6610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1645E"/>
                </a:solidFill>
              </a:defRPr>
            </a:pPr>
            <a:r>
              <a:rPr sz="1950">
                <a:solidFill>
                  <a:srgbClr val="51645E"/>
                </a:solidFill>
              </a:rPr>
              <a:t>Keep total pairs equal to P_star, then reallocate scarce RM toward the highest-value feasible FG mix.</a:t>
            </a:r>
          </a:p>
        </p:txBody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A5651700-75F0-4310-81A0-1856762D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7867F"/>
                </a:solidFill>
              </a:defRPr>
            </a:pPr>
            <a:r>
              <a:rPr sz="1050">
                <a:solidFill>
                  <a:srgbClr val="77867F"/>
                </a:solidFill>
              </a:rPr>
              <a:t>Fallback LP plus greedy heuristics are available when exact MIP status is not feasible in time.</a:t>
            </a:r>
          </a:p>
        </p:txBody>
      </p:sp>
    </p:spTree>
    <p:extLst>
      <p:ext uri="{BB962C8B-B14F-4D97-AF65-F5344CB8AC3E}">
        <p14:creationId xmlns:p14="http://schemas.microsoft.com/office/powerpoint/2010/main" val="13264990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5D8EF2B4-6C6E-4C31-9F4D-D40B2A7A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755AD3-7940-40A9-BF37-88495F16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01D"/>
                </a:solidFill>
              </a:defRPr>
            </a:pPr>
            <a:r>
              <a:rPr sz="4050" b="1">
                <a:solidFill>
                  <a:srgbClr val="18201D"/>
                </a:solidFill>
              </a:rPr>
              <a:t>Purchase planning answers the next procurement question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1BB606C-6608-4DD3-B0C2-B0FAB3F5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1753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45E"/>
                </a:solidFill>
              </a:defRPr>
            </a:pPr>
            <a:r>
              <a:rPr sz="1875">
                <a:solidFill>
                  <a:srgbClr val="51645E"/>
                </a:solidFill>
              </a:rPr>
              <a:t>For each minimum fill target, the model minimizes extra RM buy cost while staying inside FG caps and BOM requirements.</a:t>
            </a:r>
          </a:p>
        </p:txBody>
      </p:sp>
      <p:sp>
        <p:nvSpPr>
          <p:cNvPr id="4" name="s9-m1-value">
            <a:extLst xmlns:a="http://schemas.openxmlformats.org/drawingml/2006/main">
              <a:ext uri="{FF2B5EF4-FFF2-40B4-BE49-F238E27FC236}">
                <a16:creationId xmlns:a16="http://schemas.microsoft.com/office/drawing/2014/main" id="{6AD4348A-9318-4C92-B0A9-4A6CD1D2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6972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3B42"/>
                </a:solidFill>
              </a:defRPr>
            </a:pPr>
            <a:r>
              <a:rPr sz="4200" b="1">
                <a:solidFill>
                  <a:srgbClr val="123B42"/>
                </a:solidFill>
              </a:rPr>
              <a:t>Target fill</a:t>
            </a:r>
          </a:p>
        </p:txBody>
      </p:sp>
      <p:sp>
        <p:nvSpPr>
          <p:cNvPr id="5" name="s9-m1-caption">
            <a:extLst xmlns:a="http://schemas.openxmlformats.org/drawingml/2006/main">
              <a:ext uri="{FF2B5EF4-FFF2-40B4-BE49-F238E27FC236}">
                <a16:creationId xmlns:a16="http://schemas.microsoft.com/office/drawing/2014/main" id="{6E04F648-1186-4A69-B25B-11A3F36C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697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is a minimum service threshold, not a forced exact output</a:t>
            </a:r>
          </a:p>
        </p:txBody>
      </p:sp>
      <p:sp>
        <p:nvSpPr>
          <p:cNvPr id="6" name="s9-m2-value">
            <a:extLst xmlns:a="http://schemas.openxmlformats.org/drawingml/2006/main">
              <a:ext uri="{FF2B5EF4-FFF2-40B4-BE49-F238E27FC236}">
                <a16:creationId xmlns:a16="http://schemas.microsoft.com/office/drawing/2014/main" id="{91906113-42D7-481D-8FDD-2526BCFC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6972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A96533"/>
                </a:solidFill>
              </a:defRPr>
            </a:pPr>
            <a:r>
              <a:rPr sz="4200" b="1">
                <a:solidFill>
                  <a:srgbClr val="A96533"/>
                </a:solidFill>
              </a:rPr>
              <a:t>Buy quantity</a:t>
            </a:r>
          </a:p>
        </p:txBody>
      </p:sp>
      <p:sp>
        <p:nvSpPr>
          <p:cNvPr id="7" name="s9-m2-caption">
            <a:extLst xmlns:a="http://schemas.openxmlformats.org/drawingml/2006/main">
              <a:ext uri="{FF2B5EF4-FFF2-40B4-BE49-F238E27FC236}">
                <a16:creationId xmlns:a16="http://schemas.microsoft.com/office/drawing/2014/main" id="{88D66D64-BD87-4120-B67E-066A9EBD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6972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is solved RM by RM against material rates</a:t>
            </a:r>
          </a:p>
        </p:txBody>
      </p:sp>
      <p:sp>
        <p:nvSpPr>
          <p:cNvPr id="8" name="s9-copy">
            <a:extLst xmlns:a="http://schemas.openxmlformats.org/drawingml/2006/main">
              <a:ext uri="{FF2B5EF4-FFF2-40B4-BE49-F238E27FC236}">
                <a16:creationId xmlns:a16="http://schemas.microsoft.com/office/drawing/2014/main" id="{64769A6E-9FA9-4E74-9C0C-F24D076A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57950"/>
            <a:ext cx="65532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1645E"/>
                </a:solidFill>
              </a:defRPr>
            </a:pPr>
            <a:r>
              <a:rPr sz="1950">
                <a:solidFill>
                  <a:srgbClr val="51645E"/>
                </a:solidFill>
              </a:rPr>
              <a:t>This lets procurement compare the cost of moving from today's feasible plan to 50%, 75%, or full plan fill before committing cash.</a:t>
            </a:r>
          </a:p>
        </p:txBody>
      </p:sp>
      <p:graphicFrame>
        <p:nvGraphicFramePr>
          <p:cNvPr id="9" name="purchase-cost-chart"/>
          <p:cNvGraphicFramePr/>
          <p:nvPr/>
        </p:nvGraphicFramePr>
        <p:xfrm>
          <a:off xmlns:a="http://schemas.openxmlformats.org/drawingml/2006/main" x="8236458" y="2179320"/>
          <a:ext xmlns:a="http://schemas.openxmlformats.org/drawingml/2006/main" cx="9251442" cy="709041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8c908477b2a48f6"/>
          </a:graphicData>
        </a:graphic>
      </p:graphicFrame>
      <p:sp>
        <p:nvSpPr>
          <p:cNvPr id="10" name="footer">
            <a:extLst xmlns:a="http://schemas.openxmlformats.org/drawingml/2006/main">
              <a:ext uri="{FF2B5EF4-FFF2-40B4-BE49-F238E27FC236}">
                <a16:creationId xmlns:a16="http://schemas.microsoft.com/office/drawing/2014/main" id="{4D25CB2F-BAC7-483A-92ED-78CE48B1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6687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7867F"/>
                </a:solidFill>
              </a:defRPr>
            </a:pPr>
            <a:r>
              <a:rPr sz="1050">
                <a:solidFill>
                  <a:srgbClr val="77867F"/>
                </a:solidFill>
              </a:rPr>
              <a:t>Chart uses recomputed Purchase_Summary values; costs shown in thousands of sample currency units.</a:t>
            </a:r>
          </a:p>
        </p:txBody>
      </p:sp>
    </p:spTree>
    <p:extLst>
      <p:ext uri="{BB962C8B-B14F-4D97-AF65-F5344CB8AC3E}">
        <p14:creationId xmlns:p14="http://schemas.microsoft.com/office/powerpoint/2010/main" val="4722365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8D19EB56-A6F7-4C88-9D27-70244DA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C26986-3530-4D80-B606-3C73F489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01D"/>
                </a:solidFill>
              </a:defRPr>
            </a:pPr>
            <a:r>
              <a:rPr sz="4050" b="1">
                <a:solidFill>
                  <a:srgbClr val="18201D"/>
                </a:solidFill>
              </a:rPr>
              <a:t>The output workbook is built for decision review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DE8181B-76C2-4E96-8C55-AB65ED12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12744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45E"/>
                </a:solidFill>
              </a:defRPr>
            </a:pPr>
            <a:r>
              <a:rPr sz="1875">
                <a:solidFill>
                  <a:srgbClr val="51645E"/>
                </a:solidFill>
              </a:rPr>
              <a:t>It does not just return a solver number. It gives planners and procurement a traceable set of worksheets for production, bottlenecks, and buy scenarios.</a:t>
            </a:r>
          </a:p>
        </p:txBody>
      </p:sp>
      <p:sp>
        <p:nvSpPr>
          <p:cNvPr id="4" name="s10-table-panel">
            <a:extLst xmlns:a="http://schemas.openxmlformats.org/drawingml/2006/main">
              <a:ext uri="{FF2B5EF4-FFF2-40B4-BE49-F238E27FC236}">
                <a16:creationId xmlns:a16="http://schemas.microsoft.com/office/drawing/2014/main" id="{A27DEECE-BEA6-4A8C-A67E-C454A0F1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0270"/>
            <a:ext cx="7962328" cy="7128510"/>
          </a:xfrm>
          <a:prstGeom xmlns:a="http://schemas.openxmlformats.org/drawingml/2006/main" prst="roundRect">
            <a:avLst>
              <a:gd name="adj" fmla="val 1069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5" name="s10-output-table-header-0">
            <a:extLst xmlns:a="http://schemas.openxmlformats.org/drawingml/2006/main">
              <a:ext uri="{FF2B5EF4-FFF2-40B4-BE49-F238E27FC236}">
                <a16:creationId xmlns:a16="http://schemas.microsoft.com/office/drawing/2014/main" id="{845798B3-A48D-44B2-9E09-5AAAB082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2247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42"/>
                </a:solidFill>
              </a:defRPr>
            </a:pPr>
            <a:r>
              <a:rPr sz="1200" b="1">
                <a:solidFill>
                  <a:srgbClr val="123B42"/>
                </a:solidFill>
              </a:rPr>
              <a:t>Sheet</a:t>
            </a:r>
          </a:p>
        </p:txBody>
      </p:sp>
      <p:sp>
        <p:nvSpPr>
          <p:cNvPr id="6" name="s10-output-table-header-1">
            <a:extLst xmlns:a="http://schemas.openxmlformats.org/drawingml/2006/main">
              <a:ext uri="{FF2B5EF4-FFF2-40B4-BE49-F238E27FC236}">
                <a16:creationId xmlns:a16="http://schemas.microsoft.com/office/drawing/2014/main" id="{5F104622-B6D9-42A5-BFE1-03B171D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19350"/>
            <a:ext cx="502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42"/>
                </a:solidFill>
              </a:defRPr>
            </a:pPr>
            <a:r>
              <a:rPr sz="1200" b="1">
                <a:solidFill>
                  <a:srgbClr val="123B42"/>
                </a:solidFill>
              </a:rPr>
              <a:t>Decision it supports</a:t>
            </a:r>
          </a:p>
        </p:txBody>
      </p:sp>
      <p:sp>
        <p:nvSpPr>
          <p:cNvPr id="7" name="s10-output-table-row-rule-0">
            <a:extLst xmlns:a="http://schemas.openxmlformats.org/drawingml/2006/main">
              <a:ext uri="{FF2B5EF4-FFF2-40B4-BE49-F238E27FC236}">
                <a16:creationId xmlns:a16="http://schemas.microsoft.com/office/drawing/2014/main" id="{22727F29-6AC7-40B6-BA03-A4A073E7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739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8" name="s10-output-table-cell-0-0">
            <a:extLst xmlns:a="http://schemas.openxmlformats.org/drawingml/2006/main">
              <a:ext uri="{FF2B5EF4-FFF2-40B4-BE49-F238E27FC236}">
                <a16:creationId xmlns:a16="http://schemas.microsoft.com/office/drawing/2014/main" id="{D7F831A0-44A9-4B43-AA05-45D8DAF5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247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01D"/>
                </a:solidFill>
              </a:defRPr>
            </a:pPr>
            <a:r>
              <a:rPr sz="1650" b="1">
                <a:solidFill>
                  <a:srgbClr val="18201D"/>
                </a:solidFill>
              </a:rPr>
              <a:t>FG_Result</a:t>
            </a:r>
          </a:p>
        </p:txBody>
      </p:sp>
      <p:sp>
        <p:nvSpPr>
          <p:cNvPr id="9" name="s10-output-table-cell-0-1">
            <a:extLst xmlns:a="http://schemas.openxmlformats.org/drawingml/2006/main">
              <a:ext uri="{FF2B5EF4-FFF2-40B4-BE49-F238E27FC236}">
                <a16:creationId xmlns:a16="http://schemas.microsoft.com/office/drawing/2014/main" id="{20D9055E-9FCF-4000-B08D-EFD163D2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502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45E"/>
                </a:solidFill>
              </a:defRPr>
            </a:pPr>
            <a:r>
              <a:rPr sz="1650" b="0">
                <a:solidFill>
                  <a:srgbClr val="51645E"/>
                </a:solidFill>
              </a:rPr>
              <a:t>What to build, how much is short, likely limiting RM</a:t>
            </a:r>
          </a:p>
        </p:txBody>
      </p:sp>
      <p:sp>
        <p:nvSpPr>
          <p:cNvPr id="10" name="s10-output-table-row-rule-1">
            <a:extLst xmlns:a="http://schemas.openxmlformats.org/drawingml/2006/main">
              <a:ext uri="{FF2B5EF4-FFF2-40B4-BE49-F238E27FC236}">
                <a16:creationId xmlns:a16="http://schemas.microsoft.com/office/drawing/2014/main" id="{1B2E8693-8E87-4368-8CF9-CFB86597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739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11" name="s10-output-table-cell-1-0">
            <a:extLst xmlns:a="http://schemas.openxmlformats.org/drawingml/2006/main">
              <a:ext uri="{FF2B5EF4-FFF2-40B4-BE49-F238E27FC236}">
                <a16:creationId xmlns:a16="http://schemas.microsoft.com/office/drawing/2014/main" id="{5A41010A-551E-4A22-AE3B-EFF71C4A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247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01D"/>
                </a:solidFill>
              </a:defRPr>
            </a:pPr>
            <a:r>
              <a:rPr sz="1650" b="1">
                <a:solidFill>
                  <a:srgbClr val="18201D"/>
                </a:solidFill>
              </a:rPr>
              <a:t>RM_Diagnostic</a:t>
            </a:r>
          </a:p>
        </p:txBody>
      </p:sp>
      <p:sp>
        <p:nvSpPr>
          <p:cNvPr id="12" name="s10-output-table-cell-1-1">
            <a:extLst xmlns:a="http://schemas.openxmlformats.org/drawingml/2006/main">
              <a:ext uri="{FF2B5EF4-FFF2-40B4-BE49-F238E27FC236}">
                <a16:creationId xmlns:a16="http://schemas.microsoft.com/office/drawing/2014/main" id="{37ACA156-E79C-4B07-A441-2ED5836E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33750"/>
            <a:ext cx="502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45E"/>
                </a:solidFill>
              </a:defRPr>
            </a:pPr>
            <a:r>
              <a:rPr sz="1650" b="0">
                <a:solidFill>
                  <a:srgbClr val="51645E"/>
                </a:solidFill>
              </a:rPr>
              <a:t>Which raw materials are used up or still available</a:t>
            </a:r>
          </a:p>
        </p:txBody>
      </p:sp>
      <p:sp>
        <p:nvSpPr>
          <p:cNvPr id="13" name="s10-output-table-row-rule-2">
            <a:extLst xmlns:a="http://schemas.openxmlformats.org/drawingml/2006/main">
              <a:ext uri="{FF2B5EF4-FFF2-40B4-BE49-F238E27FC236}">
                <a16:creationId xmlns:a16="http://schemas.microsoft.com/office/drawing/2014/main" id="{2B2251AE-4B0B-4022-8E73-1EFA02F2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739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14" name="s10-output-table-cell-2-0">
            <a:extLst xmlns:a="http://schemas.openxmlformats.org/drawingml/2006/main">
              <a:ext uri="{FF2B5EF4-FFF2-40B4-BE49-F238E27FC236}">
                <a16:creationId xmlns:a16="http://schemas.microsoft.com/office/drawing/2014/main" id="{7F829A18-34B5-479B-B878-17771F3A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2247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01D"/>
                </a:solidFill>
              </a:defRPr>
            </a:pPr>
            <a:r>
              <a:rPr sz="1650" b="1">
                <a:solidFill>
                  <a:srgbClr val="18201D"/>
                </a:solidFill>
              </a:rPr>
              <a:t>Purchase_Summary</a:t>
            </a:r>
          </a:p>
        </p:txBody>
      </p:sp>
      <p:sp>
        <p:nvSpPr>
          <p:cNvPr id="15" name="s10-output-table-cell-2-1">
            <a:extLst xmlns:a="http://schemas.openxmlformats.org/drawingml/2006/main">
              <a:ext uri="{FF2B5EF4-FFF2-40B4-BE49-F238E27FC236}">
                <a16:creationId xmlns:a16="http://schemas.microsoft.com/office/drawing/2014/main" id="{7DA898B4-44E6-4FC9-A397-21387940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29050"/>
            <a:ext cx="502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45E"/>
                </a:solidFill>
              </a:defRPr>
            </a:pPr>
            <a:r>
              <a:rPr sz="1650" b="0">
                <a:solidFill>
                  <a:srgbClr val="51645E"/>
                </a:solidFill>
              </a:rPr>
              <a:t>Target fill, achieved pairs, margin, and buy cost</a:t>
            </a:r>
          </a:p>
        </p:txBody>
      </p:sp>
      <p:sp>
        <p:nvSpPr>
          <p:cNvPr id="16" name="s10-output-table-row-rule-3">
            <a:extLst xmlns:a="http://schemas.openxmlformats.org/drawingml/2006/main">
              <a:ext uri="{FF2B5EF4-FFF2-40B4-BE49-F238E27FC236}">
                <a16:creationId xmlns:a16="http://schemas.microsoft.com/office/drawing/2014/main" id="{CE70FF1C-B7F3-4AE5-A862-C0431E84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739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17" name="s10-output-table-cell-3-0">
            <a:extLst xmlns:a="http://schemas.openxmlformats.org/drawingml/2006/main">
              <a:ext uri="{FF2B5EF4-FFF2-40B4-BE49-F238E27FC236}">
                <a16:creationId xmlns:a16="http://schemas.microsoft.com/office/drawing/2014/main" id="{5D4B26DD-550E-4471-995E-6C91B044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2247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01D"/>
                </a:solidFill>
              </a:defRPr>
            </a:pPr>
            <a:r>
              <a:rPr sz="1650" b="1">
                <a:solidFill>
                  <a:srgbClr val="18201D"/>
                </a:solidFill>
              </a:rPr>
              <a:t>Purchase_Detail</a:t>
            </a:r>
          </a:p>
        </p:txBody>
      </p:sp>
      <p:sp>
        <p:nvSpPr>
          <p:cNvPr id="18" name="s10-output-table-cell-3-1">
            <a:extLst xmlns:a="http://schemas.openxmlformats.org/drawingml/2006/main">
              <a:ext uri="{FF2B5EF4-FFF2-40B4-BE49-F238E27FC236}">
                <a16:creationId xmlns:a16="http://schemas.microsoft.com/office/drawing/2014/main" id="{AD7D3B64-D6EB-4C53-8026-36A7873C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24350"/>
            <a:ext cx="502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45E"/>
                </a:solidFill>
              </a:defRPr>
            </a:pPr>
            <a:r>
              <a:rPr sz="1650" b="0">
                <a:solidFill>
                  <a:srgbClr val="51645E"/>
                </a:solidFill>
              </a:rPr>
              <a:t>RM-level buy quantities and cost lines</a:t>
            </a:r>
          </a:p>
        </p:txBody>
      </p:sp>
      <p:sp>
        <p:nvSpPr>
          <p:cNvPr id="19" name="s10-output-table-row-rule-4">
            <a:extLst xmlns:a="http://schemas.openxmlformats.org/drawingml/2006/main">
              <a:ext uri="{FF2B5EF4-FFF2-40B4-BE49-F238E27FC236}">
                <a16:creationId xmlns:a16="http://schemas.microsoft.com/office/drawing/2014/main" id="{1C9F724B-DF37-44C6-82E3-DD274469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739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20" name="s10-output-table-cell-4-0">
            <a:extLst xmlns:a="http://schemas.openxmlformats.org/drawingml/2006/main">
              <a:ext uri="{FF2B5EF4-FFF2-40B4-BE49-F238E27FC236}">
                <a16:creationId xmlns:a16="http://schemas.microsoft.com/office/drawing/2014/main" id="{93F03E5D-6275-4A62-B1E3-8679134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00600"/>
            <a:ext cx="2247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01D"/>
                </a:solidFill>
              </a:defRPr>
            </a:pPr>
            <a:r>
              <a:rPr sz="1650" b="1">
                <a:solidFill>
                  <a:srgbClr val="18201D"/>
                </a:solidFill>
              </a:rPr>
              <a:t>Run_Metadata</a:t>
            </a:r>
          </a:p>
        </p:txBody>
      </p:sp>
      <p:sp>
        <p:nvSpPr>
          <p:cNvPr id="21" name="s10-output-table-cell-4-1">
            <a:extLst xmlns:a="http://schemas.openxmlformats.org/drawingml/2006/main">
              <a:ext uri="{FF2B5EF4-FFF2-40B4-BE49-F238E27FC236}">
                <a16:creationId xmlns:a16="http://schemas.microsoft.com/office/drawing/2014/main" id="{B06B5A45-FB52-41E2-BB5B-BD846FCE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00600"/>
            <a:ext cx="502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45E"/>
                </a:solidFill>
              </a:defRPr>
            </a:pPr>
            <a:r>
              <a:rPr sz="1650" b="0">
                <a:solidFill>
                  <a:srgbClr val="51645E"/>
                </a:solidFill>
              </a:rPr>
              <a:t>Solver status, method, timings, and audit warnings</a:t>
            </a:r>
          </a:p>
        </p:txBody>
      </p:sp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A8A616C-8057-4237-BF5F-3C942E69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552950"/>
            <a:ext cx="828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6533"/>
                </a:solidFill>
              </a:defRPr>
            </a:pPr>
            <a:r>
              <a:rPr sz="1200" b="1">
                <a:solidFill>
                  <a:srgbClr val="A96533"/>
                </a:solidFill>
              </a:rPr>
              <a:t>Interpretation flow</a:t>
            </a:r>
          </a:p>
        </p:txBody>
      </p:sp>
      <p:sp>
        <p:nvSpPr>
          <p:cNvPr id="23" name="s10-flow-copy">
            <a:extLst xmlns:a="http://schemas.openxmlformats.org/drawingml/2006/main">
              <a:ext uri="{FF2B5EF4-FFF2-40B4-BE49-F238E27FC236}">
                <a16:creationId xmlns:a16="http://schemas.microsoft.com/office/drawing/2014/main" id="{FB45E198-4BB9-4AC7-80A3-0B0CC18F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953000"/>
            <a:ext cx="6553200" cy="194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01D"/>
                </a:solidFill>
              </a:defRPr>
            </a:pPr>
            <a:r>
              <a:rPr sz="2550" b="1">
                <a:solidFill>
                  <a:srgbClr val="18201D"/>
                </a:solidFill>
              </a:rPr>
              <a:t>1. Find under-filled FG in FG_Result.</a:t>
            </a:r>
          </a:p>
          <a:p xmlns:a="http://schemas.openxmlformats.org/drawingml/2006/main">
            <a:pPr>
              <a:defRPr sz="2550" b="1">
                <a:solidFill>
                  <a:srgbClr val="18201D"/>
                </a:solidFill>
              </a:defRPr>
            </a:pPr>
            <a:r>
              <a:rPr sz="2550" b="1">
                <a:solidFill>
                  <a:srgbClr val="18201D"/>
                </a:solidFill>
              </a:rPr>
              <a:t>2. Confirm binding RM in RM_Diagnostic.</a:t>
            </a:r>
          </a:p>
          <a:p xmlns:a="http://schemas.openxmlformats.org/drawingml/2006/main">
            <a:pPr>
              <a:defRPr sz="2550" b="1">
                <a:solidFill>
                  <a:srgbClr val="18201D"/>
                </a:solidFill>
              </a:defRPr>
            </a:pPr>
            <a:r>
              <a:rPr sz="2550" b="1">
                <a:solidFill>
                  <a:srgbClr val="18201D"/>
                </a:solidFill>
              </a:rPr>
              <a:t>3. Compare incremental buy cost in Purchase_Summary.</a:t>
            </a:r>
          </a:p>
          <a:p xmlns:a="http://schemas.openxmlformats.org/drawingml/2006/main">
            <a:pPr>
              <a:defRPr sz="2550" b="1">
                <a:solidFill>
                  <a:srgbClr val="18201D"/>
                </a:solidFill>
              </a:defRPr>
            </a:pPr>
            <a:r>
              <a:rPr sz="2550" b="1">
                <a:solidFill>
                  <a:srgbClr val="18201D"/>
                </a:solidFill>
              </a:rPr>
              <a:t>4. Use Purchase_Detail for procurement handoff.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E0DCA63D-77A6-4BB2-8D73-EAC8A76D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4405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7867F"/>
                </a:solidFill>
              </a:defRPr>
            </a:pPr>
            <a:r>
              <a:rPr sz="1050">
                <a:solidFill>
                  <a:srgbClr val="77867F"/>
                </a:solidFill>
              </a:rPr>
              <a:t>Workbook sheets are generated by app/excel_io.py and app/orchestrator.py.</a:t>
            </a:r>
          </a:p>
        </p:txBody>
      </p:sp>
    </p:spTree>
    <p:extLst>
      <p:ext uri="{BB962C8B-B14F-4D97-AF65-F5344CB8AC3E}">
        <p14:creationId xmlns:p14="http://schemas.microsoft.com/office/powerpoint/2010/main" val="16488838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173C2F0-3A4B-4524-93E7-5F44CF1D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015529-F838-4B7D-A8E2-295FF612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01D"/>
                </a:solidFill>
              </a:defRPr>
            </a:pPr>
            <a:r>
              <a:rPr sz="4050" b="1">
                <a:solidFill>
                  <a:srgbClr val="18201D"/>
                </a:solidFill>
              </a:rPr>
              <a:t>Sample run: stock limits cap production at 29.6% fill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F3CF06B-AC6C-4AC9-9404-8A2F42A6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1963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45E"/>
                </a:solidFill>
              </a:defRPr>
            </a:pPr>
            <a:r>
              <a:rPr sz="1875">
                <a:solidFill>
                  <a:srgbClr val="51645E"/>
                </a:solidFill>
              </a:rPr>
              <a:t>The bundled footwear-shaped demo shows how a small number of shared RM constraints can block many FG styles at once.</a:t>
            </a:r>
          </a:p>
        </p:txBody>
      </p:sp>
      <p:sp>
        <p:nvSpPr>
          <p:cNvPr id="4" name="s11-pairs-value">
            <a:extLst xmlns:a="http://schemas.openxmlformats.org/drawingml/2006/main">
              <a:ext uri="{FF2B5EF4-FFF2-40B4-BE49-F238E27FC236}">
                <a16:creationId xmlns:a16="http://schemas.microsoft.com/office/drawing/2014/main" id="{70BB9C21-A1B7-4AFB-AE70-A0C060F0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6477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23B42"/>
                </a:solidFill>
              </a:defRPr>
            </a:pPr>
            <a:r>
              <a:rPr sz="4950" b="1">
                <a:solidFill>
                  <a:srgbClr val="123B42"/>
                </a:solidFill>
              </a:rPr>
              <a:t>2,167</a:t>
            </a:r>
          </a:p>
        </p:txBody>
      </p:sp>
      <p:sp>
        <p:nvSpPr>
          <p:cNvPr id="5" name="s11-pairs-caption">
            <a:extLst xmlns:a="http://schemas.openxmlformats.org/drawingml/2006/main">
              <a:ext uri="{FF2B5EF4-FFF2-40B4-BE49-F238E27FC236}">
                <a16:creationId xmlns:a16="http://schemas.microsoft.com/office/drawing/2014/main" id="{440161C1-66D4-4E4F-AA99-CD33CC13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optimized pairs out of 7,312 plan cap</a:t>
            </a:r>
          </a:p>
        </p:txBody>
      </p:sp>
      <p:sp>
        <p:nvSpPr>
          <p:cNvPr id="6" name="s11-fill-value">
            <a:extLst xmlns:a="http://schemas.openxmlformats.org/drawingml/2006/main">
              <a:ext uri="{FF2B5EF4-FFF2-40B4-BE49-F238E27FC236}">
                <a16:creationId xmlns:a16="http://schemas.microsoft.com/office/drawing/2014/main" id="{773B9A06-28B8-4E50-98F9-B74132CD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6477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A96533"/>
                </a:solidFill>
              </a:defRPr>
            </a:pPr>
            <a:r>
              <a:rPr sz="4950" b="1">
                <a:solidFill>
                  <a:srgbClr val="A96533"/>
                </a:solidFill>
              </a:rPr>
              <a:t>29.6%</a:t>
            </a:r>
          </a:p>
        </p:txBody>
      </p:sp>
      <p:sp>
        <p:nvSpPr>
          <p:cNvPr id="7" name="s11-fill-caption">
            <a:extLst xmlns:a="http://schemas.openxmlformats.org/drawingml/2006/main">
              <a:ext uri="{FF2B5EF4-FFF2-40B4-BE49-F238E27FC236}">
                <a16:creationId xmlns:a16="http://schemas.microsoft.com/office/drawing/2014/main" id="{CDFC8FEC-0CD3-443C-BD69-6D54CC7A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current-stock plan fill</a:t>
            </a:r>
          </a:p>
        </p:txBody>
      </p:sp>
      <p:sp>
        <p:nvSpPr>
          <p:cNvPr id="8" name="s11-margin-value">
            <a:extLst xmlns:a="http://schemas.openxmlformats.org/drawingml/2006/main">
              <a:ext uri="{FF2B5EF4-FFF2-40B4-BE49-F238E27FC236}">
                <a16:creationId xmlns:a16="http://schemas.microsoft.com/office/drawing/2014/main" id="{4E9819FA-C7D9-4569-AA2F-0234B383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53200"/>
            <a:ext cx="6477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8201D"/>
                </a:solidFill>
              </a:defRPr>
            </a:pPr>
            <a:r>
              <a:rPr sz="3900" b="1">
                <a:solidFill>
                  <a:srgbClr val="18201D"/>
                </a:solidFill>
              </a:rPr>
              <a:t>422,993</a:t>
            </a:r>
          </a:p>
        </p:txBody>
      </p:sp>
      <p:sp>
        <p:nvSpPr>
          <p:cNvPr id="9" name="s11-margin-caption">
            <a:extLst xmlns:a="http://schemas.openxmlformats.org/drawingml/2006/main">
              <a:ext uri="{FF2B5EF4-FFF2-40B4-BE49-F238E27FC236}">
                <a16:creationId xmlns:a16="http://schemas.microsoft.com/office/drawing/2014/main" id="{7BB2F6E8-D8CF-43D1-9B9F-842E802E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8185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achieved margin in sample data</a:t>
            </a:r>
          </a:p>
        </p:txBody>
      </p:sp>
      <p:graphicFrame>
        <p:nvGraphicFramePr>
          <p:cNvPr id="10" name="pairs-chart"/>
          <p:cNvGraphicFramePr/>
          <p:nvPr/>
        </p:nvGraphicFramePr>
        <p:xfrm>
          <a:off xmlns:a="http://schemas.openxmlformats.org/drawingml/2006/main" x="7760970" y="2179320"/>
          <a:ext xmlns:a="http://schemas.openxmlformats.org/drawingml/2006/main" cx="9726930" cy="4791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8d0f94226147cb"/>
          </a:graphicData>
        </a:graphic>
      </p:graphicFrame>
      <p:sp>
        <p:nvSpPr>
          <p:cNvPr id="11" name="s11-rm-panel">
            <a:extLst xmlns:a="http://schemas.openxmlformats.org/drawingml/2006/main">
              <a:ext uri="{FF2B5EF4-FFF2-40B4-BE49-F238E27FC236}">
                <a16:creationId xmlns:a16="http://schemas.microsoft.com/office/drawing/2014/main" id="{B62E65C5-46D6-425C-BBD7-37940301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0" y="7198995"/>
            <a:ext cx="9726930" cy="2070735"/>
          </a:xfrm>
          <a:prstGeom xmlns:a="http://schemas.openxmlformats.org/drawingml/2006/main" prst="roundRect">
            <a:avLst>
              <a:gd name="adj" fmla="val 3680"/>
            </a:avLst>
          </a:prstGeom>
          <a:solidFill xmlns:a="http://schemas.openxmlformats.org/drawingml/2006/main">
            <a:srgbClr val="F6F1EA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12" name="s11-rm-table-header-0">
            <a:extLst xmlns:a="http://schemas.openxmlformats.org/drawingml/2006/main">
              <a:ext uri="{FF2B5EF4-FFF2-40B4-BE49-F238E27FC236}">
                <a16:creationId xmlns:a16="http://schemas.microsoft.com/office/drawing/2014/main" id="{8107BFD7-AD32-4798-9183-BB2EF0AF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10450"/>
            <a:ext cx="453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42"/>
                </a:solidFill>
              </a:defRPr>
            </a:pPr>
            <a:r>
              <a:rPr sz="1200" b="1">
                <a:solidFill>
                  <a:srgbClr val="123B42"/>
                </a:solidFill>
              </a:rPr>
              <a:t>Likely bottleneck</a:t>
            </a:r>
          </a:p>
        </p:txBody>
      </p:sp>
      <p:sp>
        <p:nvSpPr>
          <p:cNvPr id="13" name="s11-rm-table-header-1">
            <a:extLst xmlns:a="http://schemas.openxmlformats.org/drawingml/2006/main">
              <a:ext uri="{FF2B5EF4-FFF2-40B4-BE49-F238E27FC236}">
                <a16:creationId xmlns:a16="http://schemas.microsoft.com/office/drawing/2014/main" id="{99A53A92-F639-4807-BA6A-52F9487A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7410450"/>
            <a:ext cx="453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42"/>
                </a:solidFill>
              </a:defRPr>
            </a:pPr>
            <a:r>
              <a:rPr sz="1200" b="1">
                <a:solidFill>
                  <a:srgbClr val="123B42"/>
                </a:solidFill>
              </a:rPr>
              <a:t>Utilization</a:t>
            </a:r>
          </a:p>
        </p:txBody>
      </p:sp>
      <p:sp>
        <p:nvSpPr>
          <p:cNvPr id="14" name="s11-rm-table-row-rule-0">
            <a:extLst xmlns:a="http://schemas.openxmlformats.org/drawingml/2006/main">
              <a:ext uri="{FF2B5EF4-FFF2-40B4-BE49-F238E27FC236}">
                <a16:creationId xmlns:a16="http://schemas.microsoft.com/office/drawing/2014/main" id="{5AD4A29A-6176-449B-BD8F-24C1EAE9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734300"/>
            <a:ext cx="920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15" name="s11-rm-table-cell-0-0">
            <a:extLst xmlns:a="http://schemas.openxmlformats.org/drawingml/2006/main">
              <a:ext uri="{FF2B5EF4-FFF2-40B4-BE49-F238E27FC236}">
                <a16:creationId xmlns:a16="http://schemas.microsoft.com/office/drawing/2014/main" id="{7F54E82C-28AD-476B-963C-7557796E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829550"/>
            <a:ext cx="453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01D"/>
                </a:solidFill>
              </a:defRPr>
            </a:pPr>
            <a:r>
              <a:rPr sz="1650" b="1">
                <a:solidFill>
                  <a:srgbClr val="18201D"/>
                </a:solidFill>
              </a:rPr>
              <a:t>RM002</a:t>
            </a:r>
          </a:p>
        </p:txBody>
      </p:sp>
      <p:sp>
        <p:nvSpPr>
          <p:cNvPr id="16" name="s11-rm-table-cell-0-1">
            <a:extLst xmlns:a="http://schemas.openxmlformats.org/drawingml/2006/main">
              <a:ext uri="{FF2B5EF4-FFF2-40B4-BE49-F238E27FC236}">
                <a16:creationId xmlns:a16="http://schemas.microsoft.com/office/drawing/2014/main" id="{54A5054B-68A9-44FA-B964-514AEF56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7829550"/>
            <a:ext cx="453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45E"/>
                </a:solidFill>
              </a:defRPr>
            </a:pPr>
            <a:r>
              <a:rPr sz="1650" b="0">
                <a:solidFill>
                  <a:srgbClr val="51645E"/>
                </a:solidFill>
              </a:rPr>
              <a:t>100.0% used</a:t>
            </a:r>
          </a:p>
        </p:txBody>
      </p:sp>
      <p:sp>
        <p:nvSpPr>
          <p:cNvPr id="17" name="s11-rm-table-row-rule-1">
            <a:extLst xmlns:a="http://schemas.openxmlformats.org/drawingml/2006/main">
              <a:ext uri="{FF2B5EF4-FFF2-40B4-BE49-F238E27FC236}">
                <a16:creationId xmlns:a16="http://schemas.microsoft.com/office/drawing/2014/main" id="{CD83D2C8-A725-4695-9E33-E47B0CA8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8210550"/>
            <a:ext cx="920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18" name="s11-rm-table-cell-1-0">
            <a:extLst xmlns:a="http://schemas.openxmlformats.org/drawingml/2006/main">
              <a:ext uri="{FF2B5EF4-FFF2-40B4-BE49-F238E27FC236}">
                <a16:creationId xmlns:a16="http://schemas.microsoft.com/office/drawing/2014/main" id="{3AAB2B70-7620-4167-B144-F8B3D14E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8324850"/>
            <a:ext cx="453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01D"/>
                </a:solidFill>
              </a:defRPr>
            </a:pPr>
            <a:r>
              <a:rPr sz="1650" b="1">
                <a:solidFill>
                  <a:srgbClr val="18201D"/>
                </a:solidFill>
              </a:rPr>
              <a:t>RM001</a:t>
            </a:r>
          </a:p>
        </p:txBody>
      </p:sp>
      <p:sp>
        <p:nvSpPr>
          <p:cNvPr id="19" name="s11-rm-table-cell-1-1">
            <a:extLst xmlns:a="http://schemas.openxmlformats.org/drawingml/2006/main">
              <a:ext uri="{FF2B5EF4-FFF2-40B4-BE49-F238E27FC236}">
                <a16:creationId xmlns:a16="http://schemas.microsoft.com/office/drawing/2014/main" id="{164BFC1B-D354-45CF-96FB-0F7CC5A3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8324850"/>
            <a:ext cx="453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45E"/>
                </a:solidFill>
              </a:defRPr>
            </a:pPr>
            <a:r>
              <a:rPr sz="1650" b="0">
                <a:solidFill>
                  <a:srgbClr val="51645E"/>
                </a:solidFill>
              </a:rPr>
              <a:t>100.0% used</a:t>
            </a:r>
          </a:p>
        </p:txBody>
      </p:sp>
      <p:sp>
        <p:nvSpPr>
          <p:cNvPr id="20" name="s11-rm-table-row-rule-2">
            <a:extLst xmlns:a="http://schemas.openxmlformats.org/drawingml/2006/main">
              <a:ext uri="{FF2B5EF4-FFF2-40B4-BE49-F238E27FC236}">
                <a16:creationId xmlns:a16="http://schemas.microsoft.com/office/drawing/2014/main" id="{1A26A961-7628-4270-A29B-4FBB10D7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8705850"/>
            <a:ext cx="9201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8"/>
          </a:solidFill>
          <a:ln xmlns:a="http://schemas.openxmlformats.org/drawingml/2006/main" w="0">
            <a:solidFill>
              <a:srgbClr val="D7C8B8"/>
            </a:solidFill>
            <a:prstDash val="solid"/>
          </a:ln>
        </p:spPr>
      </p:sp>
      <p:sp>
        <p:nvSpPr>
          <p:cNvPr id="21" name="s11-rm-table-cell-2-0">
            <a:extLst xmlns:a="http://schemas.openxmlformats.org/drawingml/2006/main">
              <a:ext uri="{FF2B5EF4-FFF2-40B4-BE49-F238E27FC236}">
                <a16:creationId xmlns:a16="http://schemas.microsoft.com/office/drawing/2014/main" id="{D794B468-BA0D-4B81-8D42-55DE7961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8801100"/>
            <a:ext cx="453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01D"/>
                </a:solidFill>
              </a:defRPr>
            </a:pPr>
            <a:r>
              <a:rPr sz="1650" b="1">
                <a:solidFill>
                  <a:srgbClr val="18201D"/>
                </a:solidFill>
              </a:rPr>
              <a:t>RM003</a:t>
            </a:r>
          </a:p>
        </p:txBody>
      </p:sp>
      <p:sp>
        <p:nvSpPr>
          <p:cNvPr id="22" name="s11-rm-table-cell-2-1">
            <a:extLst xmlns:a="http://schemas.openxmlformats.org/drawingml/2006/main">
              <a:ext uri="{FF2B5EF4-FFF2-40B4-BE49-F238E27FC236}">
                <a16:creationId xmlns:a16="http://schemas.microsoft.com/office/drawing/2014/main" id="{031F5A4D-AEF3-48F6-A055-2719E54B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8801100"/>
            <a:ext cx="453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645E"/>
                </a:solidFill>
              </a:defRPr>
            </a:pPr>
            <a:r>
              <a:rPr sz="1650" b="0">
                <a:solidFill>
                  <a:srgbClr val="51645E"/>
                </a:solidFill>
              </a:rPr>
              <a:t>100.0% used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C5001E0D-19B4-48A4-9CB1-2C614483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16687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7867F"/>
                </a:solidFill>
              </a:defRPr>
            </a:pPr>
            <a:r>
              <a:rPr sz="1050">
                <a:solidFill>
                  <a:srgbClr val="77867F"/>
                </a:solidFill>
              </a:rPr>
              <a:t>Run status: Optimal via lex_mip; bottlenecks are from recomputed RM_Diagnostic utilization.</a:t>
            </a:r>
          </a:p>
        </p:txBody>
      </p:sp>
    </p:spTree>
    <p:extLst>
      <p:ext uri="{BB962C8B-B14F-4D97-AF65-F5344CB8AC3E}">
        <p14:creationId xmlns:p14="http://schemas.microsoft.com/office/powerpoint/2010/main" val="32602312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3DD59BB5-C526-462E-9C74-9634421E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EF1C49-7720-472B-A103-6A5E78A4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6611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01D"/>
                </a:solidFill>
              </a:defRPr>
            </a:pPr>
            <a:r>
              <a:rPr sz="4050" b="1">
                <a:solidFill>
                  <a:srgbClr val="18201D"/>
                </a:solidFill>
              </a:rPr>
              <a:t>The savings come from better tradeoffs, faster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FCA3D95-810D-49D7-AA23-23B8017E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71600"/>
            <a:ext cx="12668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45E"/>
                </a:solidFill>
              </a:defRPr>
            </a:pPr>
            <a:r>
              <a:rPr sz="1875">
                <a:solidFill>
                  <a:srgbClr val="51645E"/>
                </a:solidFill>
              </a:rPr>
              <a:t>The optimizer does not create material. It makes the scarcity visible, prioritizes feasible output, and prices the cost of moving to the next service level.</a:t>
            </a:r>
          </a:p>
        </p:txBody>
      </p:sp>
      <p:sp>
        <p:nvSpPr>
          <p:cNvPr id="4" name="s12-time-title">
            <a:extLst xmlns:a="http://schemas.openxmlformats.org/drawingml/2006/main">
              <a:ext uri="{FF2B5EF4-FFF2-40B4-BE49-F238E27FC236}">
                <a16:creationId xmlns:a16="http://schemas.microsoft.com/office/drawing/2014/main" id="{E45538E0-4AB2-4E22-A7A1-977CA583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8420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23B42"/>
                </a:solidFill>
              </a:defRPr>
            </a:pPr>
            <a:r>
              <a:rPr sz="3750" b="1">
                <a:solidFill>
                  <a:srgbClr val="123B42"/>
                </a:solidFill>
              </a:rPr>
              <a:t>Time saved</a:t>
            </a:r>
          </a:p>
        </p:txBody>
      </p:sp>
      <p:sp>
        <p:nvSpPr>
          <p:cNvPr id="5" name="s12-time-copy">
            <a:extLst xmlns:a="http://schemas.openxmlformats.org/drawingml/2006/main">
              <a:ext uri="{FF2B5EF4-FFF2-40B4-BE49-F238E27FC236}">
                <a16:creationId xmlns:a16="http://schemas.microsoft.com/office/drawing/2014/main" id="{D02DC646-9909-4AA2-A1F9-A620365B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7372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1645E"/>
                </a:solidFill>
              </a:defRPr>
            </a:pPr>
            <a:r>
              <a:rPr sz="2100">
                <a:solidFill>
                  <a:srgbClr val="51645E"/>
                </a:solidFill>
              </a:rPr>
              <a:t>Manual reconciliation becomes scenario review. Planners spend less time stitching worksheets and more time testing targets.</a:t>
            </a:r>
          </a:p>
        </p:txBody>
      </p:sp>
      <p:sp>
        <p:nvSpPr>
          <p:cNvPr id="6" name="s12-rule">
            <a:extLst xmlns:a="http://schemas.openxmlformats.org/drawingml/2006/main">
              <a:ext uri="{FF2B5EF4-FFF2-40B4-BE49-F238E27FC236}">
                <a16:creationId xmlns:a16="http://schemas.microsoft.com/office/drawing/2014/main" id="{B957C265-921F-4A9D-BADD-5DD99DF7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3A"/>
          </a:solidFill>
          <a:ln xmlns:a="http://schemas.openxmlformats.org/drawingml/2006/main" w="0">
            <a:solidFill>
              <a:srgbClr val="D58A3A"/>
            </a:solidFill>
            <a:prstDash val="solid"/>
          </a:ln>
        </p:spPr>
      </p:sp>
      <p:sp>
        <p:nvSpPr>
          <p:cNvPr id="7" name="s12-opp-title">
            <a:extLst xmlns:a="http://schemas.openxmlformats.org/drawingml/2006/main">
              <a:ext uri="{FF2B5EF4-FFF2-40B4-BE49-F238E27FC236}">
                <a16:creationId xmlns:a16="http://schemas.microsoft.com/office/drawing/2014/main" id="{7DF16211-3124-4E48-B0FB-C811F1E7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8420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A96533"/>
                </a:solidFill>
              </a:defRPr>
            </a:pPr>
            <a:r>
              <a:rPr sz="3750" b="1">
                <a:solidFill>
                  <a:srgbClr val="A96533"/>
                </a:solidFill>
              </a:rPr>
              <a:t>Lost opportunity avoided</a:t>
            </a:r>
          </a:p>
        </p:txBody>
      </p:sp>
      <p:sp>
        <p:nvSpPr>
          <p:cNvPr id="8" name="s12-opp-copy">
            <a:extLst xmlns:a="http://schemas.openxmlformats.org/drawingml/2006/main">
              <a:ext uri="{FF2B5EF4-FFF2-40B4-BE49-F238E27FC236}">
                <a16:creationId xmlns:a16="http://schemas.microsoft.com/office/drawing/2014/main" id="{DCBBA9AE-A1E3-4DF1-9509-7B5C9CAE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0"/>
            <a:ext cx="7048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1645E"/>
                </a:solidFill>
              </a:defRPr>
            </a:pPr>
            <a:r>
              <a:rPr sz="2100">
                <a:solidFill>
                  <a:srgbClr val="51645E"/>
                </a:solidFill>
              </a:rPr>
              <a:t>The FG_Result sheet shows which plan commitments are blocked before the month is gone.</a:t>
            </a:r>
          </a:p>
        </p:txBody>
      </p:sp>
      <p:sp>
        <p:nvSpPr>
          <p:cNvPr id="9" name="s12-money">
            <a:extLst xmlns:a="http://schemas.openxmlformats.org/drawingml/2006/main">
              <a:ext uri="{FF2B5EF4-FFF2-40B4-BE49-F238E27FC236}">
                <a16:creationId xmlns:a16="http://schemas.microsoft.com/office/drawing/2014/main" id="{F18B03B0-7CAB-4B8F-837F-BC91D16F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0753" y="2293620"/>
            <a:ext cx="7619048" cy="6861810"/>
          </a:xfrm>
          <a:prstGeom xmlns:a="http://schemas.openxmlformats.org/drawingml/2006/main" prst="roundRect">
            <a:avLst>
              <a:gd name="adj" fmla="val 11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D1394D9-0D04-40CE-987E-8E00379E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52900"/>
            <a:ext cx="6896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6533"/>
                </a:solidFill>
              </a:defRPr>
            </a:pPr>
            <a:r>
              <a:rPr sz="1200" b="1">
                <a:solidFill>
                  <a:srgbClr val="A96533"/>
                </a:solidFill>
              </a:rPr>
              <a:t>Money saved through controlled buys</a:t>
            </a:r>
          </a:p>
        </p:txBody>
      </p:sp>
      <p:sp>
        <p:nvSpPr>
          <p:cNvPr id="11" name="s12-buy50-value">
            <a:extLst xmlns:a="http://schemas.openxmlformats.org/drawingml/2006/main">
              <a:ext uri="{FF2B5EF4-FFF2-40B4-BE49-F238E27FC236}">
                <a16:creationId xmlns:a16="http://schemas.microsoft.com/office/drawing/2014/main" id="{0193B5A0-352A-4C57-AFEB-5AA7E57D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52950"/>
            <a:ext cx="6896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23B42"/>
                </a:solidFill>
              </a:defRPr>
            </a:pPr>
            <a:r>
              <a:rPr sz="4050" b="1">
                <a:solidFill>
                  <a:srgbClr val="123B42"/>
                </a:solidFill>
              </a:rPr>
              <a:t>818,600</a:t>
            </a:r>
          </a:p>
        </p:txBody>
      </p:sp>
      <p:sp>
        <p:nvSpPr>
          <p:cNvPr id="12" name="s12-buy50-caption">
            <a:extLst xmlns:a="http://schemas.openxmlformats.org/drawingml/2006/main">
              <a:ext uri="{FF2B5EF4-FFF2-40B4-BE49-F238E27FC236}">
                <a16:creationId xmlns:a16="http://schemas.microsoft.com/office/drawing/2014/main" id="{A14A1DAA-2678-4233-9155-9314C3DD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197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sample buy cost to reach 50% fill</a:t>
            </a:r>
          </a:p>
        </p:txBody>
      </p:sp>
      <p:sp>
        <p:nvSpPr>
          <p:cNvPr id="13" name="s12-buy100-value">
            <a:extLst xmlns:a="http://schemas.openxmlformats.org/drawingml/2006/main">
              <a:ext uri="{FF2B5EF4-FFF2-40B4-BE49-F238E27FC236}">
                <a16:creationId xmlns:a16="http://schemas.microsoft.com/office/drawing/2014/main" id="{738910E8-37C5-462C-AB80-7C9375D6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657850"/>
            <a:ext cx="6896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A96533"/>
                </a:solidFill>
              </a:defRPr>
            </a:pPr>
            <a:r>
              <a:rPr sz="4050" b="1">
                <a:solidFill>
                  <a:srgbClr val="A96533"/>
                </a:solidFill>
              </a:rPr>
              <a:t>3,291,426</a:t>
            </a:r>
          </a:p>
        </p:txBody>
      </p:sp>
      <p:sp>
        <p:nvSpPr>
          <p:cNvPr id="14" name="s12-buy100-caption">
            <a:extLst xmlns:a="http://schemas.openxmlformats.org/drawingml/2006/main">
              <a:ext uri="{FF2B5EF4-FFF2-40B4-BE49-F238E27FC236}">
                <a16:creationId xmlns:a16="http://schemas.microsoft.com/office/drawing/2014/main" id="{87D6B715-D363-402E-A156-0C64AEBD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30555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45E"/>
                </a:solidFill>
              </a:defRPr>
            </a:pPr>
            <a:r>
              <a:rPr sz="1425">
                <a:solidFill>
                  <a:srgbClr val="51645E"/>
                </a:solidFill>
              </a:rPr>
              <a:t>sample buy cost to reach 100% fill</a:t>
            </a:r>
          </a:p>
        </p:txBody>
      </p:sp>
      <p:sp>
        <p:nvSpPr>
          <p:cNvPr id="15" name="s12-money-copy">
            <a:extLst xmlns:a="http://schemas.openxmlformats.org/drawingml/2006/main">
              <a:ext uri="{FF2B5EF4-FFF2-40B4-BE49-F238E27FC236}">
                <a16:creationId xmlns:a16="http://schemas.microsoft.com/office/drawing/2014/main" id="{165F2D8B-4B61-4BCB-A81B-3200BCF3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762750"/>
            <a:ext cx="6419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1645E"/>
                </a:solidFill>
              </a:defRPr>
            </a:pPr>
            <a:r>
              <a:rPr sz="1800">
                <a:solidFill>
                  <a:srgbClr val="51645E"/>
                </a:solidFill>
              </a:rPr>
              <a:t>The business can choose the service-level step it can afford instead of blindly buying toward the full shortage.</a:t>
            </a:r>
          </a:p>
        </p:txBody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4FA210CF-3EEA-464C-AF82-64A2C25C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0595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7867F"/>
                </a:solidFill>
              </a:defRPr>
            </a:pPr>
            <a:r>
              <a:rPr sz="1050">
                <a:solidFill>
                  <a:srgbClr val="77867F"/>
                </a:solidFill>
              </a:rPr>
              <a:t>Cost examples are sample currency units from the bundled Purchase_Summary.</a:t>
            </a:r>
          </a:p>
        </p:txBody>
      </p:sp>
    </p:spTree>
    <p:extLst>
      <p:ext uri="{BB962C8B-B14F-4D97-AF65-F5344CB8AC3E}">
        <p14:creationId xmlns:p14="http://schemas.microsoft.com/office/powerpoint/2010/main" val="15997620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B7780CC7-62EF-4CE3-B0B8-A881478D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970F6D-DDF3-4025-BB5D-4C669978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8201D"/>
                </a:solidFill>
              </a:defRPr>
            </a:pPr>
            <a:r>
              <a:rPr sz="4050" b="1">
                <a:solidFill>
                  <a:srgbClr val="18201D"/>
                </a:solidFill>
              </a:rPr>
              <a:t>Implementation is intentionally adoption-friendly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B64A0D-86DE-4CCC-B2A9-8A9252A1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12249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1645E"/>
                </a:solidFill>
              </a:defRPr>
            </a:pPr>
            <a:r>
              <a:rPr sz="1875">
                <a:solidFill>
                  <a:srgbClr val="51645E"/>
                </a:solidFill>
              </a:rPr>
              <a:t>The first version fits the client where planning already happens: Excel workbooks, a simple Streamlit upload flow, and auditable outputs.</a:t>
            </a:r>
          </a:p>
        </p:txBody>
      </p:sp>
      <p:sp>
        <p:nvSpPr>
          <p:cNvPr id="4" name="s13-fit">
            <a:extLst xmlns:a="http://schemas.openxmlformats.org/drawingml/2006/main">
              <a:ext uri="{FF2B5EF4-FFF2-40B4-BE49-F238E27FC236}">
                <a16:creationId xmlns:a16="http://schemas.microsoft.com/office/drawing/2014/main" id="{C2CBF919-5254-4976-ADC6-F53613BD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6470"/>
            <a:ext cx="8096250" cy="6976110"/>
          </a:xfrm>
          <a:prstGeom xmlns:a="http://schemas.openxmlformats.org/drawingml/2006/main" prst="roundRect">
            <a:avLst>
              <a:gd name="adj" fmla="val 1092"/>
            </a:avLst>
          </a:prstGeom>
          <a:solidFill xmlns:a="http://schemas.openxmlformats.org/drawingml/2006/main">
            <a:srgbClr val="F6F1EA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74689FB-CE72-4B1F-8253-32EFD791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14600"/>
            <a:ext cx="7448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5B63"/>
                </a:solidFill>
              </a:defRPr>
            </a:pPr>
            <a:r>
              <a:rPr sz="1200" b="1">
                <a:solidFill>
                  <a:srgbClr val="1F5B63"/>
                </a:solidFill>
              </a:rPr>
              <a:t>What is already in place</a:t>
            </a:r>
          </a:p>
        </p:txBody>
      </p:sp>
      <p:sp>
        <p:nvSpPr>
          <p:cNvPr id="6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D779A07D-85D9-4933-BAAD-CA167D23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B63"/>
          </a:solidFill>
        </p:spPr>
      </p:sp>
      <p:sp>
        <p:nvSpPr>
          <p:cNvPr id="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3AC07CD-F9C0-476D-B05A-A78A0107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33700"/>
            <a:ext cx="7200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1D"/>
                </a:solidFill>
              </a:defRPr>
            </a:pPr>
            <a:r>
              <a:rPr sz="1950">
                <a:solidFill>
                  <a:srgbClr val="18201D"/>
                </a:solidFill>
              </a:rPr>
              <a:t>Workbook template and sample input/output downloads.</a:t>
            </a:r>
          </a:p>
        </p:txBody>
      </p:sp>
      <p:sp>
        <p:nvSpPr>
          <p:cNvPr id="8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17357A8B-AC78-4493-ADF7-C745636B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A3A"/>
          </a:solidFill>
        </p:spPr>
      </p:sp>
      <p:sp>
        <p:nvSpPr>
          <p:cNvPr id="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31934184-B34F-4463-88BB-4D6F4CCE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90900"/>
            <a:ext cx="7200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1D"/>
                </a:solidFill>
              </a:defRPr>
            </a:pPr>
            <a:r>
              <a:rPr sz="1950">
                <a:solidFill>
                  <a:srgbClr val="18201D"/>
                </a:solidFill>
              </a:rPr>
              <a:t>Schema validation before the solver runs.</a:t>
            </a:r>
          </a:p>
        </p:txBody>
      </p:sp>
      <p:sp>
        <p:nvSpPr>
          <p:cNvPr id="10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0A4E636A-4003-465B-A2A6-4123216F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2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B63"/>
          </a:solidFill>
        </p:spPr>
      </p:sp>
      <p:sp>
        <p:nvSpPr>
          <p:cNvPr id="1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AFEDA45E-D1A0-4838-A04F-42B45799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67150"/>
            <a:ext cx="7200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1D"/>
                </a:solidFill>
              </a:defRPr>
            </a:pPr>
            <a:r>
              <a:rPr sz="1950">
                <a:solidFill>
                  <a:srgbClr val="18201D"/>
                </a:solidFill>
              </a:rPr>
              <a:t>Progress heartbeat and solver settings for long runs.</a:t>
            </a:r>
          </a:p>
        </p:txBody>
      </p:sp>
      <p:sp>
        <p:nvSpPr>
          <p:cNvPr id="12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AF5E7BCC-0A1D-4A71-A124-2B97D1CC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A3A"/>
          </a:solidFill>
        </p:spPr>
      </p:sp>
      <p:sp>
        <p:nvSpPr>
          <p:cNvPr id="13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B5B80AA5-1202-482E-AFB3-73D6C1C2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7200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1D"/>
                </a:solidFill>
              </a:defRPr>
            </a:pPr>
            <a:r>
              <a:rPr sz="1950">
                <a:solidFill>
                  <a:srgbClr val="18201D"/>
                </a:solidFill>
              </a:rPr>
              <a:t>Run metadata for status, fallback flags, and audit warnings.</a:t>
            </a:r>
          </a:p>
        </p:txBody>
      </p:sp>
      <p:sp>
        <p:nvSpPr>
          <p:cNvPr id="14" name="s13-limits">
            <a:extLst xmlns:a="http://schemas.openxmlformats.org/drawingml/2006/main">
              <a:ext uri="{FF2B5EF4-FFF2-40B4-BE49-F238E27FC236}">
                <a16:creationId xmlns:a16="http://schemas.microsoft.com/office/drawing/2014/main" id="{BB707932-7198-45B0-86A5-6B4A19E8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36470"/>
            <a:ext cx="8096250" cy="6976110"/>
          </a:xfrm>
          <a:prstGeom xmlns:a="http://schemas.openxmlformats.org/drawingml/2006/main" prst="roundRect">
            <a:avLst>
              <a:gd name="adj" fmla="val 1092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7C8B8"/>
            </a:solidFill>
            <a:prstDash val="solid"/>
          </a:ln>
        </p:spPr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1598F04-5FA6-4306-B195-6B751D7A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14600"/>
            <a:ext cx="7448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96533"/>
                </a:solidFill>
              </a:defRPr>
            </a:pPr>
            <a:r>
              <a:rPr sz="1200" b="1">
                <a:solidFill>
                  <a:srgbClr val="A96533"/>
                </a:solidFill>
              </a:rPr>
              <a:t>Not yet modeled</a:t>
            </a:r>
          </a:p>
        </p:txBody>
      </p:sp>
      <p:sp>
        <p:nvSpPr>
          <p:cNvPr id="16" name="bullet-mark-1">
            <a:extLst xmlns:a="http://schemas.openxmlformats.org/drawingml/2006/main">
              <a:ext uri="{FF2B5EF4-FFF2-40B4-BE49-F238E27FC236}">
                <a16:creationId xmlns:a16="http://schemas.microsoft.com/office/drawing/2014/main" id="{18359CA4-3382-47D8-B664-8372BDDA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289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B63"/>
          </a:solidFill>
        </p:spPr>
      </p:sp>
      <p:sp>
        <p:nvSpPr>
          <p:cNvPr id="17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7C63929-2310-43C3-B04C-765B3E47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33700"/>
            <a:ext cx="7200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1D"/>
                </a:solidFill>
              </a:defRPr>
            </a:pPr>
            <a:r>
              <a:rPr sz="1950">
                <a:solidFill>
                  <a:srgbClr val="18201D"/>
                </a:solidFill>
              </a:rPr>
              <a:t>Lead time and multi-period planning.</a:t>
            </a:r>
          </a:p>
        </p:txBody>
      </p:sp>
      <p:sp>
        <p:nvSpPr>
          <p:cNvPr id="18" name="bullet-mark-2">
            <a:extLst xmlns:a="http://schemas.openxmlformats.org/drawingml/2006/main">
              <a:ext uri="{FF2B5EF4-FFF2-40B4-BE49-F238E27FC236}">
                <a16:creationId xmlns:a16="http://schemas.microsoft.com/office/drawing/2014/main" id="{F7FE248D-008E-44EB-8C07-1569C271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861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A3A"/>
          </a:solidFill>
        </p:spPr>
      </p:sp>
      <p:sp>
        <p:nvSpPr>
          <p:cNvPr id="19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95D21D1-B4EC-466E-84D4-B2D4317F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90900"/>
            <a:ext cx="7200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1D"/>
                </a:solidFill>
              </a:defRPr>
            </a:pPr>
            <a:r>
              <a:rPr sz="1950">
                <a:solidFill>
                  <a:srgbClr val="18201D"/>
                </a:solidFill>
              </a:rPr>
              <a:t>Manpower, routing, and work-center sequencing.</a:t>
            </a:r>
          </a:p>
        </p:txBody>
      </p:sp>
      <p:sp>
        <p:nvSpPr>
          <p:cNvPr id="20" name="bullet-mark-3">
            <a:extLst xmlns:a="http://schemas.openxmlformats.org/drawingml/2006/main">
              <a:ext uri="{FF2B5EF4-FFF2-40B4-BE49-F238E27FC236}">
                <a16:creationId xmlns:a16="http://schemas.microsoft.com/office/drawing/2014/main" id="{54558F5E-B074-4F9B-8C4E-6504AE05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962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B63"/>
          </a:solidFill>
        </p:spPr>
      </p:sp>
      <p:sp>
        <p:nvSpPr>
          <p:cNvPr id="21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031E121-5467-4A28-BF02-A21E2BE3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67150"/>
            <a:ext cx="7200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1D"/>
                </a:solidFill>
              </a:defRPr>
            </a:pPr>
            <a:r>
              <a:rPr sz="1950">
                <a:solidFill>
                  <a:srgbClr val="18201D"/>
                </a:solidFill>
              </a:rPr>
              <a:t>MOQ, supplier allocation, and cash timing.</a:t>
            </a:r>
          </a:p>
        </p:txBody>
      </p:sp>
      <p:sp>
        <p:nvSpPr>
          <p:cNvPr id="22" name="bullet-mark-4">
            <a:extLst xmlns:a="http://schemas.openxmlformats.org/drawingml/2006/main">
              <a:ext uri="{FF2B5EF4-FFF2-40B4-BE49-F238E27FC236}">
                <a16:creationId xmlns:a16="http://schemas.microsoft.com/office/drawing/2014/main" id="{A21587A6-1F07-49FA-8FE2-74FAA8AA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386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A3A"/>
          </a:solidFill>
        </p:spPr>
      </p:sp>
      <p:sp>
        <p:nvSpPr>
          <p:cNvPr id="23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DD759E91-D7C4-4C50-9989-14901C40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343400"/>
            <a:ext cx="7200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8201D"/>
                </a:solidFill>
              </a:defRPr>
            </a:pPr>
            <a:r>
              <a:rPr sz="1950">
                <a:solidFill>
                  <a:srgbClr val="18201D"/>
                </a:solidFill>
              </a:rPr>
              <a:t>Vendor-specific constraints or substitution logic.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B68FB627-C37C-4A35-A01C-1A7A7A5F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1664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7867F"/>
                </a:solidFill>
              </a:defRPr>
            </a:pPr>
            <a:r>
              <a:rPr sz="1050">
                <a:solidFill>
                  <a:srgbClr val="77867F"/>
                </a:solidFill>
              </a:rPr>
              <a:t>Scope boundaries from README.md.</a:t>
            </a:r>
          </a:p>
        </p:txBody>
      </p:sp>
    </p:spTree>
    <p:extLst>
      <p:ext uri="{BB962C8B-B14F-4D97-AF65-F5344CB8AC3E}">
        <p14:creationId xmlns:p14="http://schemas.microsoft.com/office/powerpoint/2010/main" val="18619257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lot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be754748e400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FAF8073-9EF7-447F-8047-3C47BE0B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7448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B42"/>
                </a:solidFill>
              </a:defRPr>
            </a:pPr>
            <a:r>
              <a:rPr sz="1200" b="1">
                <a:solidFill>
                  <a:srgbClr val="123B42"/>
                </a:solidFill>
              </a:rPr>
              <a:t>Recommended next step</a:t>
            </a:r>
          </a:p>
        </p:txBody>
      </p:sp>
      <p:sp>
        <p:nvSpPr>
          <p:cNvPr id="3" name="s14-title">
            <a:extLst xmlns:a="http://schemas.openxmlformats.org/drawingml/2006/main">
              <a:ext uri="{FF2B5EF4-FFF2-40B4-BE49-F238E27FC236}">
                <a16:creationId xmlns:a16="http://schemas.microsoft.com/office/drawing/2014/main" id="{7F7B5CAF-994C-448F-B517-197D78A6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6553200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8201D"/>
                </a:solidFill>
              </a:defRPr>
            </a:pPr>
            <a:r>
              <a:rPr sz="4950" b="1">
                <a:solidFill>
                  <a:srgbClr val="18201D"/>
                </a:solidFill>
              </a:rPr>
              <a:t>Run one planning-cycle pilot with sanitized client data.</a:t>
            </a:r>
          </a:p>
        </p:txBody>
      </p:sp>
      <p:sp>
        <p:nvSpPr>
          <p:cNvPr id="4" name="s14-rule">
            <a:extLst xmlns:a="http://schemas.openxmlformats.org/drawingml/2006/main">
              <a:ext uri="{FF2B5EF4-FFF2-40B4-BE49-F238E27FC236}">
                <a16:creationId xmlns:a16="http://schemas.microsoft.com/office/drawing/2014/main" id="{EEB5E9A9-7202-4DA7-80BD-F0389342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8A3A"/>
          </a:solidFill>
          <a:ln xmlns:a="http://schemas.openxmlformats.org/drawingml/2006/main" w="0">
            <a:solidFill>
              <a:srgbClr val="D58A3A"/>
            </a:solidFill>
            <a:prstDash val="solid"/>
          </a:ln>
        </p:spPr>
      </p:sp>
      <p:sp>
        <p:nvSpPr>
          <p:cNvPr id="5" name="s14-copy-text">
            <a:extLst xmlns:a="http://schemas.openxmlformats.org/drawingml/2006/main">
              <a:ext uri="{FF2B5EF4-FFF2-40B4-BE49-F238E27FC236}">
                <a16:creationId xmlns:a16="http://schemas.microsoft.com/office/drawing/2014/main" id="{22768ECD-C046-4595-97F3-10CB47EC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15050"/>
            <a:ext cx="64960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1645E"/>
                </a:solidFill>
              </a:defRPr>
            </a:pPr>
            <a:r>
              <a:rPr sz="2100">
                <a:solidFill>
                  <a:srgbClr val="51645E"/>
                </a:solidFill>
              </a:rPr>
              <a:t>Start with current workbook structure, confirm output interpretation with planning and procurement, then add client-specific constraints only where they change decisions.</a:t>
            </a:r>
          </a:p>
        </p:txBody>
      </p:sp>
      <p:sp>
        <p:nvSpPr>
          <p:cNvPr id="6" name="s14-spacer">
            <a:extLst xmlns:a="http://schemas.openxmlformats.org/drawingml/2006/main">
              <a:ext uri="{FF2B5EF4-FFF2-40B4-BE49-F238E27FC236}">
                <a16:creationId xmlns:a16="http://schemas.microsoft.com/office/drawing/2014/main" id="{5797ABE5-30F2-45DB-81A2-D68FDAF3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723900"/>
            <a:ext cx="9086850" cy="883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60217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2026-05-14T07:52:31.9560000Z</dcterms:created>
  <dcterms:modified xsi:type="dcterms:W3CDTF">2026-05-14T07:52:31.9560000Z</dcterms:modified>
</coreProperties>
</file>